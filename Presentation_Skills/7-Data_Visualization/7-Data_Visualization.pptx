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24"/>
  </p:notesMasterIdLst>
  <p:sldIdLst>
    <p:sldId id="309" r:id="rId2"/>
    <p:sldId id="303" r:id="rId3"/>
    <p:sldId id="305" r:id="rId4"/>
    <p:sldId id="302" r:id="rId5"/>
    <p:sldId id="335" r:id="rId6"/>
    <p:sldId id="257" r:id="rId7"/>
    <p:sldId id="310" r:id="rId8"/>
    <p:sldId id="313" r:id="rId9"/>
    <p:sldId id="307" r:id="rId10"/>
    <p:sldId id="316" r:id="rId11"/>
    <p:sldId id="314" r:id="rId12"/>
    <p:sldId id="311" r:id="rId13"/>
    <p:sldId id="317" r:id="rId14"/>
    <p:sldId id="321" r:id="rId15"/>
    <p:sldId id="322" r:id="rId16"/>
    <p:sldId id="324" r:id="rId17"/>
    <p:sldId id="323" r:id="rId18"/>
    <p:sldId id="337" r:id="rId19"/>
    <p:sldId id="336" r:id="rId20"/>
    <p:sldId id="325" r:id="rId21"/>
    <p:sldId id="301" r:id="rId22"/>
    <p:sldId id="332" r:id="rId23"/>
  </p:sldIdLst>
  <p:sldSz cx="9144000" cy="5143500" type="screen16x9"/>
  <p:notesSz cx="6858000" cy="9144000"/>
  <p:embeddedFontLst>
    <p:embeddedFont>
      <p:font typeface="Amatic SC" pitchFamily="2" charset="-79"/>
      <p:regular r:id="rId25"/>
      <p:bold r:id="rId26"/>
    </p:embeddedFont>
    <p:embeddedFont>
      <p:font typeface="Fira Code" panose="020B0809050000020004" pitchFamily="49" charset="0"/>
      <p:regular r:id="rId27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A70"/>
    <a:srgbClr val="6AA94F"/>
    <a:srgbClr val="2E32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5FEA7C7-6EF8-486F-87EF-A76EE133A3AF}">
  <a:tblStyle styleId="{25FEA7C7-6EF8-486F-87EF-A76EE133A3A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51"/>
    <p:restoredTop sz="94459" autoAdjust="0"/>
  </p:normalViewPr>
  <p:slideViewPr>
    <p:cSldViewPr snapToGrid="0">
      <p:cViewPr varScale="1">
        <p:scale>
          <a:sx n="164" d="100"/>
          <a:sy n="164" d="100"/>
        </p:scale>
        <p:origin x="3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681598E1-1C24-FDB5-B407-1CC1A3D12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E98C6E4A-E67D-B380-A4A5-261EA97E3D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5C705725-C7BC-6C4D-D404-FCC583AF2E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83002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335D88CA-3730-186B-97CA-D15BBBDA0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4CE430D1-8EE4-713F-DF46-9744F282F8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B8CA24E1-2C21-E522-7CCF-2634D45AEE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485496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D5E177D5-E817-6C76-852E-054DE32A7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42451608-2449-C6BC-5190-ACCF18C3F9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C87E486F-A313-5AB1-F51D-CA4733B178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683530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A465F21B-335D-92D2-3265-42C302C00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CDF80245-6142-564D-1D27-31B2618795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92151331-C664-3049-EF08-38D456F131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795933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F44D15B5-B2AA-40F9-7C91-F6E2603CC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185311B8-F407-1EB4-B471-09CCBE432A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925D93BE-5392-E3CE-82A4-982FE858C2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904900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FBCFEBDE-5B3E-016F-0AFC-DB2D94152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86696F75-6AA3-E48E-062F-CE1DC53127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EE93B313-969C-A67D-3C41-F0B6ED87CE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204098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7C93E4E0-9256-678B-7A6D-DEE7F4040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1A7BCE47-5027-7F5D-599A-F8F041919B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F611944B-BDE6-B779-2119-D28579081C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362983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08AE3111-329C-26DA-700A-5F5632722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97B9F262-BF2E-DDEE-346A-04243B7505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88C230C3-254E-D7B9-9D87-96822E825F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67695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2885F509-98C2-1346-EE7D-2AF6FB29E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FDCC7865-DC48-AC49-AEF3-D296D816E3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2A95B2A2-9E99-525B-3469-A791B00EAC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418155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56998308-6729-4B9F-F1C5-7388720E8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F60C563A-7B1D-1AED-C189-D19ABE32D6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3D546BD0-3F1D-8B7E-483B-99A83FCEE7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72844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8C4B992C-1F36-899B-BB0C-7B80A6567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6C720FE5-C253-A912-BC1F-AA33CC4A98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118C1B0A-38D9-DFE5-9E70-732E905B71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926525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DB4ABD68-E035-6C65-595C-2BB9A88F6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47BC2EB4-1F8A-3A5A-C395-4A73332339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1FDE7117-5130-2189-910E-6D55662A78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459159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A0DBB894-1CB8-9081-180D-D7BD2D92B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1A156812-E1FE-48C9-5F0F-9602FE7774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C3BA691D-BE66-FC6F-29A6-0BAE14A639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991642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>
          <a:extLst>
            <a:ext uri="{FF2B5EF4-FFF2-40B4-BE49-F238E27FC236}">
              <a16:creationId xmlns:a16="http://schemas.microsoft.com/office/drawing/2014/main" id="{78C533F8-F5F2-5D90-6ADD-F53D0C5C9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>
            <a:extLst>
              <a:ext uri="{FF2B5EF4-FFF2-40B4-BE49-F238E27FC236}">
                <a16:creationId xmlns:a16="http://schemas.microsoft.com/office/drawing/2014/main" id="{56C6C8CA-42C3-1EBC-BC9D-EEF503245C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>
            <a:extLst>
              <a:ext uri="{FF2B5EF4-FFF2-40B4-BE49-F238E27FC236}">
                <a16:creationId xmlns:a16="http://schemas.microsoft.com/office/drawing/2014/main" id="{EC687BFC-75C0-9663-98CD-AE9B4B7839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68807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" name="Google Shape;30;p3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" name="Google Shape;31;p3"/>
          <p:cNvSpPr txBox="1">
            <a:spLocks noGrp="1"/>
          </p:cNvSpPr>
          <p:nvPr>
            <p:ph type="title" hasCustomPrompt="1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00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2" name="Google Shape;32;p3"/>
          <p:cNvSpPr txBox="1">
            <a:spLocks noGrp="1"/>
          </p:cNvSpPr>
          <p:nvPr>
            <p:ph type="title" idx="2"/>
          </p:nvPr>
        </p:nvSpPr>
        <p:spPr>
          <a:xfrm>
            <a:off x="2605788" y="1846623"/>
            <a:ext cx="5377200" cy="5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1"/>
          </p:nvPr>
        </p:nvSpPr>
        <p:spPr>
          <a:xfrm>
            <a:off x="3038363" y="2448125"/>
            <a:ext cx="3960900" cy="7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" name="Google Shape;35;p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" name="Google Shape;36;p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" name="Google Shape;37;p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" name="Google Shape;38;p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9" name="Google Shape;39;p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" name="Google Shape;40;p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" name="Google Shape;41;p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" name="Google Shape;42;p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" name="Google Shape;43;p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5" name="Google Shape;45;p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6" name="Google Shape;46;p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0" name="Google Shape;50;p4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1" name="Google Shape;51;p4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body" idx="1"/>
          </p:nvPr>
        </p:nvSpPr>
        <p:spPr>
          <a:xfrm>
            <a:off x="1464250" y="1063175"/>
            <a:ext cx="6969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∗"/>
              <a:defRPr sz="10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>
            <a:spLocks noGrp="1"/>
          </p:cNvSpPr>
          <p:nvPr>
            <p:ph type="title"/>
          </p:nvPr>
        </p:nvSpPr>
        <p:spPr>
          <a:xfrm>
            <a:off x="710125" y="542575"/>
            <a:ext cx="3861900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9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8" name="Google Shape;418;p2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9" name="Google Shape;419;p2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1" name="Google Shape;421;p2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3" name="Google Shape;423;p2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5" name="Google Shape;425;p2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7" name="Google Shape;427;p2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9" name="Google Shape;429;p2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CUSTOM_9_2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35" name="Google Shape;435;p24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36" name="Google Shape;436;p2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1" name="Google Shape;441;p2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4" name="Google Shape;444;p2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7" name="Google Shape;447;p2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9" name="Google Shape;449;p2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 dirty="0"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6" r:id="rId4"/>
    <p:sldLayoutId id="2147483658" r:id="rId5"/>
    <p:sldLayoutId id="2147483669" r:id="rId6"/>
    <p:sldLayoutId id="2147483670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7E7402-096B-4A0D-F159-C8AC99949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04563D9-24F1-0804-875E-B495FA41040F}"/>
              </a:ext>
            </a:extLst>
          </p:cNvPr>
          <p:cNvSpPr txBox="1"/>
          <p:nvPr/>
        </p:nvSpPr>
        <p:spPr>
          <a:xfrm>
            <a:off x="368300" y="1640726"/>
            <a:ext cx="840740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3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Sales: [  1,   12.5,  25.,   37.5,  50.,   62.5,  75.,   87.5, 100.,   87.5,  75.,   62.5]</a:t>
            </a:r>
          </a:p>
          <a:p>
            <a:pPr algn="ctr"/>
            <a:endParaRPr lang="fr-FR" sz="2300" dirty="0">
              <a:solidFill>
                <a:schemeClr val="accent3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algn="ctr"/>
            <a:r>
              <a:rPr lang="fr-FR" sz="23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Rate of production: [100.,   87.5,  75.,   62.5,  50.,   37.5,  25.,   12.5,   1.,   12.5,  25.,   37.5]</a:t>
            </a:r>
            <a:endParaRPr lang="en-US" sz="2300" dirty="0">
              <a:solidFill>
                <a:schemeClr val="accent3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1251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432EDB-9FC5-5749-00FB-1D31B199E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24CEDAD4-523A-B887-277F-972ADD3E0C2D}"/>
              </a:ext>
            </a:extLst>
          </p:cNvPr>
          <p:cNvSpPr/>
          <p:nvPr/>
        </p:nvSpPr>
        <p:spPr>
          <a:xfrm rot="10800000">
            <a:off x="3873500" y="542863"/>
            <a:ext cx="1646291" cy="3270373"/>
          </a:xfrm>
          <a:prstGeom prst="triangle">
            <a:avLst>
              <a:gd name="adj" fmla="val 53138"/>
            </a:avLst>
          </a:prstGeom>
          <a:solidFill>
            <a:srgbClr val="FFAA70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8CCCB66-8266-FD12-C946-9BECE5413D2E}"/>
              </a:ext>
            </a:extLst>
          </p:cNvPr>
          <p:cNvCxnSpPr/>
          <p:nvPr/>
        </p:nvCxnSpPr>
        <p:spPr>
          <a:xfrm>
            <a:off x="3305996" y="279400"/>
            <a:ext cx="0" cy="438150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F135551-27F4-FD2D-2CC6-55F3CE12A1F1}"/>
              </a:ext>
            </a:extLst>
          </p:cNvPr>
          <p:cNvCxnSpPr/>
          <p:nvPr/>
        </p:nvCxnSpPr>
        <p:spPr>
          <a:xfrm>
            <a:off x="2455096" y="4064000"/>
            <a:ext cx="4483100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FC72FDA-615E-E98E-24C5-2FBA544A5368}"/>
              </a:ext>
            </a:extLst>
          </p:cNvPr>
          <p:cNvSpPr txBox="1"/>
          <p:nvPr/>
        </p:nvSpPr>
        <p:spPr>
          <a:xfrm>
            <a:off x="3651037" y="4064000"/>
            <a:ext cx="2464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Amatic SC" panose="00000500000000000000" pitchFamily="2" charset="-79"/>
                <a:cs typeface="Amatic SC" panose="00000500000000000000" pitchFamily="2" charset="-79"/>
              </a:rPr>
              <a:t>  30   60   90   110   140   170   200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D55E95-B8BF-2B1D-699D-6D5DAF14E99F}"/>
              </a:ext>
            </a:extLst>
          </p:cNvPr>
          <p:cNvSpPr txBox="1"/>
          <p:nvPr/>
        </p:nvSpPr>
        <p:spPr>
          <a:xfrm>
            <a:off x="2887292" y="452695"/>
            <a:ext cx="418704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>
                <a:solidFill>
                  <a:schemeClr val="accent3"/>
                </a:solidFill>
                <a:latin typeface="Amatic SC" panose="00000500000000000000" pitchFamily="2" charset="-79"/>
                <a:cs typeface="Amatic SC" panose="00000500000000000000" pitchFamily="2" charset="-79"/>
              </a:rPr>
              <a:t>100</a:t>
            </a:r>
          </a:p>
          <a:p>
            <a:pPr algn="r"/>
            <a:endParaRPr lang="en-US" sz="2000" dirty="0">
              <a:solidFill>
                <a:schemeClr val="accent3"/>
              </a:solidFill>
              <a:latin typeface="Amatic SC" panose="00000500000000000000" pitchFamily="2" charset="-79"/>
              <a:cs typeface="Amatic SC" panose="00000500000000000000" pitchFamily="2" charset="-79"/>
            </a:endParaRPr>
          </a:p>
          <a:p>
            <a:pPr algn="r"/>
            <a:r>
              <a:rPr lang="en-US" sz="2000" dirty="0">
                <a:solidFill>
                  <a:schemeClr val="accent3"/>
                </a:solidFill>
                <a:latin typeface="Amatic SC" panose="00000500000000000000" pitchFamily="2" charset="-79"/>
                <a:cs typeface="Amatic SC" panose="00000500000000000000" pitchFamily="2" charset="-79"/>
              </a:rPr>
              <a:t>80</a:t>
            </a:r>
          </a:p>
          <a:p>
            <a:pPr algn="r"/>
            <a:endParaRPr lang="en-US" sz="2000" dirty="0">
              <a:solidFill>
                <a:schemeClr val="accent3"/>
              </a:solidFill>
              <a:latin typeface="Amatic SC" panose="00000500000000000000" pitchFamily="2" charset="-79"/>
              <a:cs typeface="Amatic SC" panose="00000500000000000000" pitchFamily="2" charset="-79"/>
            </a:endParaRPr>
          </a:p>
          <a:p>
            <a:pPr algn="r"/>
            <a:r>
              <a:rPr lang="en-US" sz="2000" dirty="0">
                <a:solidFill>
                  <a:schemeClr val="accent3"/>
                </a:solidFill>
                <a:latin typeface="Amatic SC" panose="00000500000000000000" pitchFamily="2" charset="-79"/>
                <a:cs typeface="Amatic SC" panose="00000500000000000000" pitchFamily="2" charset="-79"/>
              </a:rPr>
              <a:t>60</a:t>
            </a:r>
          </a:p>
          <a:p>
            <a:pPr algn="r"/>
            <a:endParaRPr lang="en-US" sz="2000" dirty="0">
              <a:solidFill>
                <a:schemeClr val="accent3"/>
              </a:solidFill>
              <a:latin typeface="Amatic SC" panose="00000500000000000000" pitchFamily="2" charset="-79"/>
              <a:cs typeface="Amatic SC" panose="00000500000000000000" pitchFamily="2" charset="-79"/>
            </a:endParaRPr>
          </a:p>
          <a:p>
            <a:pPr algn="r"/>
            <a:r>
              <a:rPr lang="en-US" sz="2000" dirty="0">
                <a:solidFill>
                  <a:schemeClr val="accent3"/>
                </a:solidFill>
                <a:latin typeface="Amatic SC" panose="00000500000000000000" pitchFamily="2" charset="-79"/>
                <a:cs typeface="Amatic SC" panose="00000500000000000000" pitchFamily="2" charset="-79"/>
              </a:rPr>
              <a:t>40</a:t>
            </a:r>
          </a:p>
          <a:p>
            <a:pPr algn="r"/>
            <a:endParaRPr lang="en-US" sz="2000" dirty="0">
              <a:solidFill>
                <a:schemeClr val="accent3"/>
              </a:solidFill>
              <a:latin typeface="Amatic SC" panose="00000500000000000000" pitchFamily="2" charset="-79"/>
              <a:cs typeface="Amatic SC" panose="00000500000000000000" pitchFamily="2" charset="-79"/>
            </a:endParaRPr>
          </a:p>
          <a:p>
            <a:pPr algn="r"/>
            <a:r>
              <a:rPr lang="en-US" sz="2000" dirty="0">
                <a:solidFill>
                  <a:schemeClr val="accent3"/>
                </a:solidFill>
                <a:latin typeface="Amatic SC" panose="00000500000000000000" pitchFamily="2" charset="-79"/>
                <a:cs typeface="Amatic SC" panose="00000500000000000000" pitchFamily="2" charset="-79"/>
              </a:rPr>
              <a:t>20</a:t>
            </a:r>
          </a:p>
          <a:p>
            <a:pPr algn="r"/>
            <a:endParaRPr lang="en-US" sz="2000" dirty="0">
              <a:solidFill>
                <a:schemeClr val="accent3"/>
              </a:solidFill>
              <a:latin typeface="Amatic SC" panose="00000500000000000000" pitchFamily="2" charset="-79"/>
              <a:cs typeface="Amatic SC" panose="00000500000000000000" pitchFamily="2" charset="-79"/>
            </a:endParaRPr>
          </a:p>
          <a:p>
            <a:pPr algn="r"/>
            <a:r>
              <a:rPr lang="en-US" sz="2000" dirty="0">
                <a:solidFill>
                  <a:schemeClr val="accent3"/>
                </a:solidFill>
                <a:latin typeface="Amatic SC" panose="00000500000000000000" pitchFamily="2" charset="-79"/>
                <a:cs typeface="Amatic SC" panose="00000500000000000000" pitchFamily="2" charset="-79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2837525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A266BE-34D5-4552-11AD-53125F75D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Matplotlib Logo PNG Vector (SVG) Free Download">
            <a:extLst>
              <a:ext uri="{FF2B5EF4-FFF2-40B4-BE49-F238E27FC236}">
                <a16:creationId xmlns:a16="http://schemas.microsoft.com/office/drawing/2014/main" id="{991B7A7B-D3D0-CE90-5C1C-669BCAB496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0912" y="495727"/>
            <a:ext cx="3976741" cy="3976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FC005193-7A26-3638-FD31-07FFCD9F9F99}"/>
              </a:ext>
            </a:extLst>
          </p:cNvPr>
          <p:cNvSpPr/>
          <p:nvPr/>
        </p:nvSpPr>
        <p:spPr>
          <a:xfrm rot="9195100">
            <a:off x="3854674" y="822483"/>
            <a:ext cx="854764" cy="1697997"/>
          </a:xfrm>
          <a:prstGeom prst="triangle">
            <a:avLst>
              <a:gd name="adj" fmla="val 53138"/>
            </a:avLst>
          </a:prstGeom>
          <a:solidFill>
            <a:srgbClr val="FFAA70"/>
          </a:solidFill>
          <a:ln>
            <a:solidFill>
              <a:schemeClr val="accent3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1240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Matplotlib: Zero to Hero. Created by materialdatascience A.I.GPT… | by  Material Data Science | Stackademic">
            <a:extLst>
              <a:ext uri="{FF2B5EF4-FFF2-40B4-BE49-F238E27FC236}">
                <a16:creationId xmlns:a16="http://schemas.microsoft.com/office/drawing/2014/main" id="{0E5B029D-6D97-EE48-5E39-37BC08F5A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832" y="1203360"/>
            <a:ext cx="8210336" cy="2736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Matplotlib Logo PNG Vector (SVG) Free Download">
            <a:extLst>
              <a:ext uri="{FF2B5EF4-FFF2-40B4-BE49-F238E27FC236}">
                <a16:creationId xmlns:a16="http://schemas.microsoft.com/office/drawing/2014/main" id="{F4C871AC-BD12-3AAE-7BC4-B7878A89A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9913" y="1914828"/>
            <a:ext cx="1313844" cy="1313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74D124F9-B23B-DB98-C9CD-99BBB5D1DF82}"/>
              </a:ext>
            </a:extLst>
          </p:cNvPr>
          <p:cNvSpPr/>
          <p:nvPr/>
        </p:nvSpPr>
        <p:spPr>
          <a:xfrm rot="9195100">
            <a:off x="5227703" y="2022782"/>
            <a:ext cx="282399" cy="560988"/>
          </a:xfrm>
          <a:prstGeom prst="triangle">
            <a:avLst>
              <a:gd name="adj" fmla="val 53138"/>
            </a:avLst>
          </a:prstGeom>
          <a:solidFill>
            <a:srgbClr val="FFAA70"/>
          </a:solidFill>
          <a:ln>
            <a:solidFill>
              <a:schemeClr val="accent3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736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6DDA9E-83DC-4007-076C-B3ECCFDF0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E735CD-DC87-C467-B5C5-35F6C163A859}"/>
              </a:ext>
            </a:extLst>
          </p:cNvPr>
          <p:cNvSpPr txBox="1"/>
          <p:nvPr/>
        </p:nvSpPr>
        <p:spPr>
          <a:xfrm>
            <a:off x="736600" y="2218710"/>
            <a:ext cx="8407400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/>
            <a:r>
              <a:rPr lang="en-US" sz="4000" b="0" i="0" u="none" strike="noStrike" dirty="0">
                <a:solidFill>
                  <a:schemeClr val="accent3"/>
                </a:solidFill>
                <a:effectLst/>
                <a:latin typeface="Amatic SC" panose="00000500000000000000" pitchFamily="2" charset="-79"/>
                <a:cs typeface="Amatic SC" panose="00000500000000000000" pitchFamily="2" charset="-79"/>
              </a:rPr>
              <a:t>- Simplifies complex data</a:t>
            </a:r>
          </a:p>
          <a:p>
            <a:pPr rtl="0" fontAlgn="base">
              <a:spcBef>
                <a:spcPts val="640"/>
              </a:spcBef>
            </a:pPr>
            <a:r>
              <a:rPr lang="en-US" sz="4000" b="0" i="0" u="none" strike="noStrike" dirty="0">
                <a:solidFill>
                  <a:schemeClr val="accent3"/>
                </a:solidFill>
                <a:effectLst/>
                <a:latin typeface="Amatic SC" panose="00000500000000000000" pitchFamily="2" charset="-79"/>
                <a:cs typeface="Amatic SC" panose="00000500000000000000" pitchFamily="2" charset="-79"/>
              </a:rPr>
              <a:t>- Reveals patterns and trends</a:t>
            </a:r>
          </a:p>
          <a:p>
            <a:pPr rtl="0" fontAlgn="base">
              <a:spcBef>
                <a:spcPts val="640"/>
              </a:spcBef>
            </a:pPr>
            <a:r>
              <a:rPr lang="en-US" sz="4000" b="0" i="0" u="none" strike="noStrike" dirty="0">
                <a:solidFill>
                  <a:schemeClr val="accent3"/>
                </a:solidFill>
                <a:effectLst/>
                <a:latin typeface="Amatic SC" panose="00000500000000000000" pitchFamily="2" charset="-79"/>
                <a:cs typeface="Amatic SC" panose="00000500000000000000" pitchFamily="2" charset="-79"/>
              </a:rPr>
              <a:t>- Data driven decisions </a:t>
            </a:r>
          </a:p>
          <a:p>
            <a:br>
              <a:rPr lang="en-US" sz="8800" b="0" dirty="0">
                <a:solidFill>
                  <a:schemeClr val="accent3"/>
                </a:solidFill>
                <a:effectLst/>
                <a:latin typeface="Amatic SC" panose="00000500000000000000" pitchFamily="2" charset="-79"/>
                <a:cs typeface="Amatic SC" panose="00000500000000000000" pitchFamily="2" charset="-79"/>
              </a:rPr>
            </a:br>
            <a:endParaRPr kumimoji="0" lang="en-US" sz="8000" b="0" i="0" u="none" strike="noStrike" kern="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Amatic SC" panose="00000500000000000000" pitchFamily="2" charset="-79"/>
              <a:ea typeface="Fira Code" panose="020B0809050000020004" pitchFamily="49" charset="0"/>
              <a:cs typeface="Amatic SC" panose="00000500000000000000" pitchFamily="2" charset="-79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2E16CB-FBD1-3717-521F-3DB0557B3CE7}"/>
              </a:ext>
            </a:extLst>
          </p:cNvPr>
          <p:cNvSpPr txBox="1"/>
          <p:nvPr/>
        </p:nvSpPr>
        <p:spPr>
          <a:xfrm>
            <a:off x="2343150" y="139199"/>
            <a:ext cx="44577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5400" b="0" i="0" u="none" strike="noStrike" kern="0" cap="none" spc="0" normalizeH="0" baseline="0" noProof="0" dirty="0">
                <a:ln>
                  <a:noFill/>
                </a:ln>
                <a:solidFill>
                  <a:srgbClr val="E7E7E7"/>
                </a:solidFill>
                <a:effectLst/>
                <a:uLnTx/>
                <a:uFillTx/>
                <a:latin typeface="Amatic SC" panose="00000500000000000000" pitchFamily="2" charset="-79"/>
                <a:cs typeface="Amatic SC" panose="00000500000000000000" pitchFamily="2" charset="-79"/>
                <a:sym typeface="Arial"/>
              </a:rPr>
              <a:t>Why Data Visualization ?</a:t>
            </a:r>
          </a:p>
        </p:txBody>
      </p:sp>
    </p:spTree>
    <p:extLst>
      <p:ext uri="{BB962C8B-B14F-4D97-AF65-F5344CB8AC3E}">
        <p14:creationId xmlns:p14="http://schemas.microsoft.com/office/powerpoint/2010/main" val="38170280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8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code.py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content.ppt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D1CC91-F5A4-0683-50A5-5CAD69C73D28}"/>
              </a:ext>
            </a:extLst>
          </p:cNvPr>
          <p:cNvSpPr txBox="1"/>
          <p:nvPr/>
        </p:nvSpPr>
        <p:spPr>
          <a:xfrm>
            <a:off x="1198670" y="919478"/>
            <a:ext cx="66713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Can You Spot the Pattern?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3586C9-32E5-A095-E014-F9BCFBAC711F}"/>
              </a:ext>
            </a:extLst>
          </p:cNvPr>
          <p:cNvSpPr txBox="1"/>
          <p:nvPr/>
        </p:nvSpPr>
        <p:spPr>
          <a:xfrm>
            <a:off x="1198670" y="2050055"/>
            <a:ext cx="715421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chemeClr val="accent2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write the following data randomly all over the side</a:t>
            </a:r>
          </a:p>
          <a:p>
            <a:pPr rtl="0"/>
            <a:br>
              <a:rPr lang="en-US" b="0" dirty="0">
                <a:solidFill>
                  <a:schemeClr val="bg2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r>
              <a:rPr lang="en-US" sz="1400" b="0" i="0" u="none" strike="noStrike" dirty="0">
                <a:solidFill>
                  <a:schemeClr val="bg2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[1: 31.1] [2: 27.5] [3: 30.1] [4: 35.3] [5: 36.3] [6: 31.0] [7: 41.5] [8: 44.7] [9: 53.0] [10: 63.7] [11: 72.1] [12: 84.2] [13: 88.6] [14: 91.4] [15: 95.6] [16: 97.4] [17: 100.0] [18: 98.0] [19: 100.0] [20: 96.9]</a:t>
            </a:r>
            <a:endParaRPr lang="en-US" b="0" dirty="0">
              <a:solidFill>
                <a:schemeClr val="bg2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br>
              <a:rPr lang="en-US" b="0" dirty="0">
                <a:solidFill>
                  <a:schemeClr val="bg2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endParaRPr lang="en-US" dirty="0">
              <a:solidFill>
                <a:schemeClr val="bg2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8B5327BB-366E-6F14-BAA9-EF6E86580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C9DC2C78-0136-EB97-9407-DD7E9C6D08C3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code.py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5D55BD23-918F-051D-005E-A004FBB0E60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content.ppt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C21A1DF0-CD2B-A1FA-5BC2-6EA9D93C1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650" y="2301150"/>
            <a:ext cx="7290600" cy="541200"/>
          </a:xfrm>
        </p:spPr>
        <p:txBody>
          <a:bodyPr/>
          <a:lstStyle/>
          <a:p>
            <a:r>
              <a:rPr lang="en-US" dirty="0"/>
              <a:t>Tabulated Data: </a:t>
            </a:r>
            <a:br>
              <a:rPr lang="en-US" dirty="0"/>
            </a:br>
            <a:r>
              <a:rPr lang="en-US" dirty="0"/>
              <a:t>Any Clear Trends?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96A6D0-DC7F-45E5-62F5-0D0E3C38F28B}"/>
              </a:ext>
            </a:extLst>
          </p:cNvPr>
          <p:cNvSpPr txBox="1"/>
          <p:nvPr/>
        </p:nvSpPr>
        <p:spPr>
          <a:xfrm>
            <a:off x="4788550" y="486564"/>
            <a:ext cx="4577136" cy="4170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rtl="0">
              <a:spcBef>
                <a:spcPts val="640"/>
              </a:spcBef>
            </a:pPr>
            <a:r>
              <a:rPr lang="en-US" sz="1000" b="1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 </a:t>
            </a:r>
            <a:r>
              <a:rPr lang="en-US" sz="1000" b="1" i="0" u="none" strike="noStrike" dirty="0">
                <a:solidFill>
                  <a:schemeClr val="tx2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Hours Studied   Test Score</a:t>
            </a:r>
            <a:endParaRPr lang="en-US" sz="1000" b="1" dirty="0">
              <a:solidFill>
                <a:schemeClr val="tx2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342900" rtl="0">
              <a:spcBef>
                <a:spcPts val="640"/>
              </a:spcBef>
            </a:pPr>
            <a:r>
              <a:rPr lang="en-US" sz="1000" b="1" i="0" u="none" strike="noStrike" dirty="0">
                <a:solidFill>
                  <a:schemeClr val="tx2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             1        31.1</a:t>
            </a:r>
            <a:endParaRPr lang="en-US" sz="1000" b="1" dirty="0">
              <a:solidFill>
                <a:schemeClr val="tx2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342900" rtl="0">
              <a:spcBef>
                <a:spcPts val="640"/>
              </a:spcBef>
            </a:pPr>
            <a:r>
              <a:rPr lang="en-US" sz="1000" b="1" i="0" u="none" strike="noStrike" dirty="0">
                <a:solidFill>
                  <a:schemeClr val="tx2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             2        27.5</a:t>
            </a:r>
            <a:endParaRPr lang="en-US" sz="1000" b="1" dirty="0">
              <a:solidFill>
                <a:schemeClr val="tx2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342900" rtl="0">
              <a:spcBef>
                <a:spcPts val="640"/>
              </a:spcBef>
            </a:pPr>
            <a:r>
              <a:rPr lang="en-US" sz="1000" b="1" i="0" u="none" strike="noStrike" dirty="0">
                <a:solidFill>
                  <a:schemeClr val="tx2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             3        30.1</a:t>
            </a:r>
            <a:endParaRPr lang="en-US" sz="1000" b="1" dirty="0">
              <a:solidFill>
                <a:schemeClr val="tx2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342900" rtl="0">
              <a:spcBef>
                <a:spcPts val="640"/>
              </a:spcBef>
            </a:pPr>
            <a:r>
              <a:rPr lang="en-US" sz="1000" b="1" i="0" u="none" strike="noStrike" dirty="0">
                <a:solidFill>
                  <a:schemeClr val="tx2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             4        35.3</a:t>
            </a:r>
            <a:endParaRPr lang="en-US" sz="1000" b="1" dirty="0">
              <a:solidFill>
                <a:schemeClr val="tx2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342900" rtl="0">
              <a:spcBef>
                <a:spcPts val="640"/>
              </a:spcBef>
            </a:pPr>
            <a:r>
              <a:rPr lang="en-US" sz="1000" b="1" i="0" u="none" strike="noStrike" dirty="0">
                <a:solidFill>
                  <a:schemeClr val="tx2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             5        36.3</a:t>
            </a:r>
            <a:endParaRPr lang="en-US" sz="1000" b="1" dirty="0">
              <a:solidFill>
                <a:schemeClr val="tx2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342900" rtl="0">
              <a:spcBef>
                <a:spcPts val="640"/>
              </a:spcBef>
            </a:pPr>
            <a:r>
              <a:rPr lang="en-US" sz="1000" b="1" i="0" u="none" strike="noStrike" dirty="0">
                <a:solidFill>
                  <a:schemeClr val="tx2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             6        31.0</a:t>
            </a:r>
            <a:endParaRPr lang="en-US" sz="1000" b="1" dirty="0">
              <a:solidFill>
                <a:schemeClr val="tx2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342900" rtl="0">
              <a:spcBef>
                <a:spcPts val="640"/>
              </a:spcBef>
            </a:pPr>
            <a:r>
              <a:rPr lang="en-US" sz="1000" b="1" i="0" u="none" strike="noStrike" dirty="0">
                <a:solidFill>
                  <a:schemeClr val="tx2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             7        41.5</a:t>
            </a:r>
            <a:endParaRPr lang="en-US" sz="1000" b="1" dirty="0">
              <a:solidFill>
                <a:schemeClr val="tx2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342900" rtl="0">
              <a:spcBef>
                <a:spcPts val="640"/>
              </a:spcBef>
            </a:pPr>
            <a:r>
              <a:rPr lang="en-US" sz="1000" b="1" i="0" u="none" strike="noStrike" dirty="0">
                <a:solidFill>
                  <a:schemeClr val="tx2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             8        44.7</a:t>
            </a:r>
            <a:endParaRPr lang="en-US" sz="1000" b="1" dirty="0">
              <a:solidFill>
                <a:schemeClr val="tx2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342900" rtl="0">
              <a:spcBef>
                <a:spcPts val="640"/>
              </a:spcBef>
            </a:pPr>
            <a:r>
              <a:rPr lang="en-US" sz="1000" b="1" i="0" u="none" strike="noStrike" dirty="0">
                <a:solidFill>
                  <a:schemeClr val="tx2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             9        53.0</a:t>
            </a:r>
            <a:endParaRPr lang="en-US" sz="1000" b="1" dirty="0">
              <a:solidFill>
                <a:schemeClr val="tx2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342900" rtl="0">
              <a:spcBef>
                <a:spcPts val="640"/>
              </a:spcBef>
            </a:pPr>
            <a:r>
              <a:rPr lang="en-US" sz="1000" b="1" i="0" u="none" strike="noStrike" dirty="0">
                <a:solidFill>
                  <a:schemeClr val="tx2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            10        63.7</a:t>
            </a:r>
            <a:endParaRPr lang="en-US" sz="1000" b="1" dirty="0">
              <a:solidFill>
                <a:schemeClr val="tx2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342900" rtl="0">
              <a:spcBef>
                <a:spcPts val="640"/>
              </a:spcBef>
            </a:pPr>
            <a:r>
              <a:rPr lang="en-US" sz="1000" b="1" i="0" u="none" strike="noStrike" dirty="0">
                <a:solidFill>
                  <a:schemeClr val="tx2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            11        72.1</a:t>
            </a:r>
            <a:endParaRPr lang="en-US" sz="1000" b="1" dirty="0">
              <a:solidFill>
                <a:schemeClr val="tx2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342900" rtl="0">
              <a:spcBef>
                <a:spcPts val="640"/>
              </a:spcBef>
            </a:pPr>
            <a:r>
              <a:rPr lang="en-US" sz="1000" b="1" i="0" u="none" strike="noStrike" dirty="0">
                <a:solidFill>
                  <a:schemeClr val="tx2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            12        84.2</a:t>
            </a:r>
            <a:endParaRPr lang="en-US" sz="1000" b="1" dirty="0">
              <a:solidFill>
                <a:schemeClr val="tx2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342900" rtl="0">
              <a:spcBef>
                <a:spcPts val="640"/>
              </a:spcBef>
            </a:pPr>
            <a:r>
              <a:rPr lang="en-US" sz="1000" b="1" i="0" u="none" strike="noStrike" dirty="0">
                <a:solidFill>
                  <a:schemeClr val="tx2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            13        88.6</a:t>
            </a:r>
            <a:endParaRPr lang="en-US" sz="1000" b="1" dirty="0">
              <a:solidFill>
                <a:schemeClr val="tx2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342900" rtl="0">
              <a:spcBef>
                <a:spcPts val="640"/>
              </a:spcBef>
            </a:pPr>
            <a:r>
              <a:rPr lang="en-US" sz="1000" b="1" i="0" u="none" strike="noStrike" dirty="0">
                <a:solidFill>
                  <a:schemeClr val="tx2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            14        91.4</a:t>
            </a:r>
            <a:endParaRPr lang="en-US" sz="1000" b="1" dirty="0">
              <a:solidFill>
                <a:schemeClr val="tx2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342900" rtl="0">
              <a:spcBef>
                <a:spcPts val="640"/>
              </a:spcBef>
            </a:pPr>
            <a:r>
              <a:rPr lang="en-US" sz="1000" b="1" i="0" u="none" strike="noStrike" dirty="0">
                <a:solidFill>
                  <a:schemeClr val="tx2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            15        95.6</a:t>
            </a:r>
            <a:endParaRPr lang="en-US" sz="1000" b="1" dirty="0">
              <a:solidFill>
                <a:schemeClr val="tx2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342900" rtl="0">
              <a:spcBef>
                <a:spcPts val="640"/>
              </a:spcBef>
            </a:pPr>
            <a:r>
              <a:rPr lang="en-US" sz="1000" b="1" i="0" u="none" strike="noStrike" dirty="0">
                <a:solidFill>
                  <a:schemeClr val="tx2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            16        97.4</a:t>
            </a:r>
            <a:endParaRPr lang="en-US" sz="1000" b="1" dirty="0">
              <a:solidFill>
                <a:schemeClr val="tx2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342900" rtl="0">
              <a:spcBef>
                <a:spcPts val="640"/>
              </a:spcBef>
            </a:pPr>
            <a:r>
              <a:rPr lang="en-US" sz="1000" b="1" i="0" u="none" strike="noStrike" dirty="0">
                <a:solidFill>
                  <a:schemeClr val="tx2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            17       100.0</a:t>
            </a:r>
            <a:endParaRPr lang="en-US" sz="1000" b="1" dirty="0">
              <a:solidFill>
                <a:schemeClr val="tx2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07924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03317C92-B8C4-5867-3124-9AFB17B89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C052B482-BA42-BB52-F7B1-F89FFDBC621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code.py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210F3A70-F512-EA1E-D562-E0E5F6502D36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content.ppt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1F47B94-F9EB-3634-1A21-C22F76466B9A}"/>
              </a:ext>
            </a:extLst>
          </p:cNvPr>
          <p:cNvGrpSpPr/>
          <p:nvPr/>
        </p:nvGrpSpPr>
        <p:grpSpPr>
          <a:xfrm>
            <a:off x="4417908" y="701852"/>
            <a:ext cx="4572000" cy="3739795"/>
            <a:chOff x="2445269" y="606036"/>
            <a:chExt cx="4633626" cy="3931428"/>
          </a:xfrm>
        </p:grpSpPr>
        <p:pic>
          <p:nvPicPr>
            <p:cNvPr id="3074" name="Picture 2" descr="Windows 9x/NT Blank Window Template">
              <a:extLst>
                <a:ext uri="{FF2B5EF4-FFF2-40B4-BE49-F238E27FC236}">
                  <a16:creationId xmlns:a16="http://schemas.microsoft.com/office/drawing/2014/main" id="{397EFE8C-3828-93EA-8A22-2B763D1F21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5269" y="606036"/>
              <a:ext cx="4633626" cy="39314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6" name="Picture 4">
              <a:extLst>
                <a:ext uri="{FF2B5EF4-FFF2-40B4-BE49-F238E27FC236}">
                  <a16:creationId xmlns:a16="http://schemas.microsoft.com/office/drawing/2014/main" id="{F6E7DD4A-2484-B9B7-070B-472C3AF1F3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5269" y="912899"/>
              <a:ext cx="4633626" cy="36245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F60824E-9722-20D3-B599-AAA1EFB9E3D6}"/>
              </a:ext>
            </a:extLst>
          </p:cNvPr>
          <p:cNvSpPr txBox="1"/>
          <p:nvPr/>
        </p:nvSpPr>
        <p:spPr>
          <a:xfrm>
            <a:off x="328773" y="2220727"/>
            <a:ext cx="457713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2800" b="0" i="0" u="none" strike="noStrike" dirty="0">
                <a:solidFill>
                  <a:schemeClr val="bg1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Revealing the</a:t>
            </a:r>
          </a:p>
          <a:p>
            <a:pPr algn="ctr" rtl="0"/>
            <a:r>
              <a:rPr lang="en-US" sz="2800" b="0" i="0" u="none" strike="noStrike" dirty="0">
                <a:solidFill>
                  <a:schemeClr val="bg1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Hidden Pattern</a:t>
            </a:r>
            <a:endParaRPr lang="en-US" sz="2800" b="0" dirty="0">
              <a:solidFill>
                <a:schemeClr val="bg1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br>
              <a:rPr lang="en-US" sz="2800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endParaRPr lang="en-US" sz="2800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5749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B69DEAAD-09FF-1F8B-E395-1CBA0528D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7">
            <a:extLst>
              <a:ext uri="{FF2B5EF4-FFF2-40B4-BE49-F238E27FC236}">
                <a16:creationId xmlns:a16="http://schemas.microsoft.com/office/drawing/2014/main" id="{7050CB62-0D04-AA19-2F6D-73EE697FCF7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Matplotlib 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6737DD77-47C7-ACCE-3FA7-93797C4CD29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c</a:t>
            </a:r>
            <a:r>
              <a:rPr lang="en" sz="1400" dirty="0">
                <a:solidFill>
                  <a:schemeClr val="accent3"/>
                </a:solidFill>
              </a:rPr>
              <a:t>ode.py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66" name="Google Shape;466;p27">
            <a:extLst>
              <a:ext uri="{FF2B5EF4-FFF2-40B4-BE49-F238E27FC236}">
                <a16:creationId xmlns:a16="http://schemas.microsoft.com/office/drawing/2014/main" id="{3E428552-5EC5-4105-156F-3D006A4D71B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content.ppt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D113E6-BD22-F09A-5BF2-17C80ABF56C3}"/>
              </a:ext>
            </a:extLst>
          </p:cNvPr>
          <p:cNvSpPr txBox="1"/>
          <p:nvPr/>
        </p:nvSpPr>
        <p:spPr>
          <a:xfrm>
            <a:off x="1352397" y="995840"/>
            <a:ext cx="7062137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u="none" strike="noStrike" dirty="0">
                <a:solidFill>
                  <a:srgbClr val="6AA94F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 Generate integer hours studied by students from 1 to 20</a:t>
            </a:r>
            <a:br>
              <a:rPr lang="en-US" sz="1600" b="0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hours_studied = np.arange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1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1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1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21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br>
              <a:rPr lang="en-US" sz="1600" b="0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br>
              <a:rPr lang="en-US" sz="1600" b="0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r>
              <a:rPr lang="en-US" sz="1100" b="0" i="0" u="none" strike="noStrike" dirty="0">
                <a:solidFill>
                  <a:srgbClr val="6AA94F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 Parameters for the sigmoid function</a:t>
            </a:r>
            <a:br>
              <a:rPr lang="en-US" sz="1600" b="0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max_score = </a:t>
            </a:r>
            <a:r>
              <a:rPr lang="en-US" sz="11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100</a:t>
            </a:r>
            <a:br>
              <a:rPr lang="en-US" sz="1600" b="0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min_score = </a:t>
            </a:r>
            <a:r>
              <a:rPr lang="en-US" sz="11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25</a:t>
            </a:r>
            <a:br>
              <a:rPr lang="en-US" sz="1600" b="0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k = </a:t>
            </a:r>
            <a:r>
              <a:rPr lang="en-US" sz="11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0.5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      </a:t>
            </a:r>
            <a:r>
              <a:rPr lang="en-US" sz="1100" b="0" i="0" u="none" strike="noStrike" dirty="0">
                <a:solidFill>
                  <a:srgbClr val="6AA94F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 Steepness of the curve</a:t>
            </a:r>
            <a:br>
              <a:rPr lang="en-US" sz="1600" b="0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midpoint = </a:t>
            </a:r>
            <a:r>
              <a:rPr lang="en-US" sz="11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10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100" b="0" i="0" u="none" strike="noStrike" dirty="0">
                <a:solidFill>
                  <a:srgbClr val="6AA94F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 Hours at which score is halfway between min and max</a:t>
            </a:r>
            <a:br>
              <a:rPr lang="en-US" sz="1600" b="0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br>
              <a:rPr lang="en-US" sz="1600" b="0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r>
              <a:rPr lang="en-US" sz="1100" b="0" i="0" u="none" strike="noStrike" dirty="0">
                <a:solidFill>
                  <a:srgbClr val="6AA94F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 Calculate test scores with a sigmoid relationship</a:t>
            </a:r>
            <a:br>
              <a:rPr lang="en-US" sz="1600" b="0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scores = min_score + 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max_score - min_score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/ 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1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1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+ np.exp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-k * 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hours_studied - midpoint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)))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+ np.random.normal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1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0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1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3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size=hours_studied.size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br>
              <a:rPr lang="en-US" sz="1600" b="0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br>
              <a:rPr lang="en-US" sz="1600" b="0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r>
              <a:rPr lang="en-US" sz="1100" b="0" i="0" u="none" strike="noStrike" dirty="0">
                <a:solidFill>
                  <a:srgbClr val="6AA94F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 Round scores to the nearest digit after the decimal point</a:t>
            </a:r>
            <a:br>
              <a:rPr lang="en-US" sz="1600" b="0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rounded_scores = np.</a:t>
            </a:r>
            <a:r>
              <a:rPr lang="en-US" sz="1100" b="0" i="0" u="none" strike="noStrike" dirty="0">
                <a:solidFill>
                  <a:srgbClr val="DCDCAA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round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scores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1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1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br>
              <a:rPr lang="en-US" sz="1600" b="0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br>
              <a:rPr lang="en-US" sz="1600" b="0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r>
              <a:rPr lang="en-US" sz="1100" b="0" i="0" u="none" strike="noStrike" dirty="0">
                <a:solidFill>
                  <a:srgbClr val="6AA94F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 Print the rounded scores along with hours studied</a:t>
            </a:r>
            <a:br>
              <a:rPr lang="en-US" sz="1600" b="0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r>
              <a:rPr lang="en-US" sz="1100" b="0" i="0" u="none" strike="noStrike" dirty="0">
                <a:solidFill>
                  <a:srgbClr val="DCDCAA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10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"Hours Studied:"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hours_studied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br>
              <a:rPr lang="en-US" sz="1600" b="0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r>
              <a:rPr lang="en-US" sz="1100" b="0" i="0" u="none" strike="noStrike" dirty="0">
                <a:solidFill>
                  <a:srgbClr val="DCDCAA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10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"Rounded Test Scores:"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rounded_scores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endParaRPr lang="en-US" sz="11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D806B6-2D64-E823-A832-98834A4D6B51}"/>
              </a:ext>
            </a:extLst>
          </p:cNvPr>
          <p:cNvSpPr txBox="1"/>
          <p:nvPr/>
        </p:nvSpPr>
        <p:spPr>
          <a:xfrm>
            <a:off x="1352397" y="518830"/>
            <a:ext cx="458227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code for creating the data</a:t>
            </a:r>
            <a:endParaRPr lang="en-US" sz="2000" b="0" dirty="0">
              <a:solidFill>
                <a:schemeClr val="bg1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br>
              <a:rPr lang="en-US" sz="2000" b="0" dirty="0">
                <a:solidFill>
                  <a:schemeClr val="bg1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endParaRPr lang="en-US" sz="2000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50631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F6A38DC4-CFA9-2C7A-3E4F-D70DDDA06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7">
            <a:extLst>
              <a:ext uri="{FF2B5EF4-FFF2-40B4-BE49-F238E27FC236}">
                <a16:creationId xmlns:a16="http://schemas.microsoft.com/office/drawing/2014/main" id="{E7BF47AE-E029-F3C4-29DB-FBF60DEF3AE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Matplotlib 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F0F81A70-ACE9-F574-A913-767929E5DFA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c</a:t>
            </a:r>
            <a:r>
              <a:rPr lang="en" sz="1400" dirty="0">
                <a:solidFill>
                  <a:schemeClr val="accent3"/>
                </a:solidFill>
              </a:rPr>
              <a:t>ode.py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66" name="Google Shape;466;p27">
            <a:extLst>
              <a:ext uri="{FF2B5EF4-FFF2-40B4-BE49-F238E27FC236}">
                <a16:creationId xmlns:a16="http://schemas.microsoft.com/office/drawing/2014/main" id="{54B4EB16-4970-76F3-87CE-A027E88945A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content.ppt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2F3FAE-915E-54FB-764F-2B0E62470E86}"/>
              </a:ext>
            </a:extLst>
          </p:cNvPr>
          <p:cNvSpPr txBox="1"/>
          <p:nvPr/>
        </p:nvSpPr>
        <p:spPr>
          <a:xfrm>
            <a:off x="1264183" y="1286969"/>
            <a:ext cx="817562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sz="1100" b="0" i="0" u="none" strike="noStrike" dirty="0">
                <a:solidFill>
                  <a:srgbClr val="6AA94F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 Define the modified sigmoid function</a:t>
            </a:r>
            <a:endParaRPr lang="en-US" sz="11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100" b="0" i="0" u="none" strike="noStrike" dirty="0">
                <a:solidFill>
                  <a:srgbClr val="569CD6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def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100" b="0" i="0" u="none" strike="noStrike" dirty="0">
                <a:solidFill>
                  <a:srgbClr val="DCDCAA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sigmoid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100" b="0" i="0" u="none" strike="noStrike" dirty="0">
                <a:solidFill>
                  <a:srgbClr val="9CDCFE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x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 </a:t>
            </a:r>
            <a:r>
              <a:rPr lang="en-US" sz="1100" b="0" i="0" u="none" strike="noStrike" dirty="0">
                <a:solidFill>
                  <a:srgbClr val="9CDCFE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L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 </a:t>
            </a:r>
            <a:r>
              <a:rPr lang="en-US" sz="1100" b="0" i="0" u="none" strike="noStrike" dirty="0">
                <a:solidFill>
                  <a:srgbClr val="9CDCFE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x0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 </a:t>
            </a:r>
            <a:r>
              <a:rPr lang="en-US" sz="1100" b="0" i="0" u="none" strike="noStrike" dirty="0">
                <a:solidFill>
                  <a:srgbClr val="9CDCFE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k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 </a:t>
            </a:r>
            <a:r>
              <a:rPr lang="en-US" sz="1100" b="0" i="0" u="none" strike="noStrike" dirty="0">
                <a:solidFill>
                  <a:srgbClr val="9CDCFE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:</a:t>
            </a:r>
            <a:endParaRPr lang="en-US" sz="11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   </a:t>
            </a:r>
            <a:r>
              <a:rPr lang="en-US" sz="1100" b="0" i="0" u="none" strike="noStrike" dirty="0">
                <a:solidFill>
                  <a:srgbClr val="C586C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return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b + 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L - b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/ 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1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1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+ np.exp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-k * 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x - x0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)))</a:t>
            </a:r>
            <a:endParaRPr lang="en-US" sz="11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br>
              <a:rPr lang="en-US" sz="1100" b="0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r>
              <a:rPr lang="en-US" sz="1100" b="0" i="0" u="none" strike="noStrike" dirty="0">
                <a:solidFill>
                  <a:srgbClr val="6AA94F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 Generate fitted scores</a:t>
            </a:r>
            <a:endParaRPr lang="en-US" sz="11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1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hours_fit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= </a:t>
            </a:r>
            <a:r>
              <a:rPr lang="en-US" sz="11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np.linspace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100" b="0" i="0" u="none" strike="noStrike" dirty="0">
                <a:solidFill>
                  <a:srgbClr val="DCDCAA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min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hours_studied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),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100" b="0" i="0" u="none" strike="noStrike" dirty="0">
                <a:solidFill>
                  <a:srgbClr val="DCDCAA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max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hours_studied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),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1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100</a:t>
            </a:r>
            <a:endParaRPr lang="en-US" sz="11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1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scores_fit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= sigmoid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1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hours_fit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max_score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midpoint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k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min_score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endParaRPr lang="en-US" sz="11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br>
              <a:rPr lang="en-US" sz="1100" b="0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r>
              <a:rPr lang="en-US" sz="1100" b="0" i="0" u="none" strike="noStrike" dirty="0">
                <a:solidFill>
                  <a:srgbClr val="6AA94F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 Plot the data</a:t>
            </a:r>
            <a:endParaRPr lang="en-US" sz="11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1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plt.scatter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hours_studied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scores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color=</a:t>
            </a:r>
            <a:r>
              <a:rPr lang="en-US" sz="110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'blue'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label=</a:t>
            </a:r>
            <a:r>
              <a:rPr lang="en-US" sz="110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'Data Points'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endParaRPr lang="en-US" sz="11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1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plt.plot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1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hours_fit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1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scores_fit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color=</a:t>
            </a:r>
            <a:r>
              <a:rPr lang="en-US" sz="110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'red'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label=</a:t>
            </a:r>
            <a:r>
              <a:rPr lang="en-US" sz="110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'Sigmoid Fit'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endParaRPr lang="en-US" sz="11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br>
              <a:rPr lang="en-US" sz="1100" b="0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r>
              <a:rPr lang="en-US" sz="1100" b="0" i="0" u="none" strike="noStrike" dirty="0">
                <a:solidFill>
                  <a:srgbClr val="6AA94F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 Add labels and title</a:t>
            </a:r>
            <a:endParaRPr lang="en-US" sz="11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1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plt.xlabel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10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'Hours Studied'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endParaRPr lang="en-US" sz="11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1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plt.ylabel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10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'Test Score'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endParaRPr lang="en-US" sz="11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1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plt.title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10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'Test Score vs. Hours Studied'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endParaRPr lang="en-US" sz="11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1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plt.legend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()</a:t>
            </a:r>
            <a:endParaRPr lang="en-US" sz="11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1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plt.show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()</a:t>
            </a:r>
            <a:endParaRPr lang="en-US" sz="11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br>
              <a:rPr lang="en-US" sz="11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endParaRPr lang="en-US" sz="1100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C2C928-AE50-8BB6-FF84-C3A1F3500DCE}"/>
              </a:ext>
            </a:extLst>
          </p:cNvPr>
          <p:cNvSpPr txBox="1"/>
          <p:nvPr/>
        </p:nvSpPr>
        <p:spPr>
          <a:xfrm>
            <a:off x="1320203" y="556503"/>
            <a:ext cx="472611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code for creating the plot</a:t>
            </a:r>
            <a:endParaRPr lang="en-US" sz="2000" b="0" dirty="0">
              <a:solidFill>
                <a:schemeClr val="bg1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br>
              <a:rPr lang="en-US" sz="2000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endParaRPr lang="en-US" sz="2000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58349C6-902E-D2AF-F914-D8AA3BF4AE86}"/>
              </a:ext>
            </a:extLst>
          </p:cNvPr>
          <p:cNvGrpSpPr/>
          <p:nvPr/>
        </p:nvGrpSpPr>
        <p:grpSpPr>
          <a:xfrm>
            <a:off x="2657464" y="1087559"/>
            <a:ext cx="4130962" cy="3677285"/>
            <a:chOff x="4262555" y="980977"/>
            <a:chExt cx="3817121" cy="3319985"/>
          </a:xfrm>
        </p:grpSpPr>
        <p:pic>
          <p:nvPicPr>
            <p:cNvPr id="4100" name="Picture 4" descr="Windows 9x/NT Blank Window Template by user12720127301998 on DeviantArt">
              <a:extLst>
                <a:ext uri="{FF2B5EF4-FFF2-40B4-BE49-F238E27FC236}">
                  <a16:creationId xmlns:a16="http://schemas.microsoft.com/office/drawing/2014/main" id="{0E98E161-3886-5433-B275-56B3C1AB1F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62555" y="980977"/>
              <a:ext cx="3817121" cy="33199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2" name="Picture 6">
              <a:extLst>
                <a:ext uri="{FF2B5EF4-FFF2-40B4-BE49-F238E27FC236}">
                  <a16:creationId xmlns:a16="http://schemas.microsoft.com/office/drawing/2014/main" id="{F5C78CB3-1665-27BC-8A1F-A54B330C83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62556" y="1356189"/>
              <a:ext cx="3790668" cy="29447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9836951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9B152482-D4DE-AAC4-C5DE-3023C4FE9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315AECA0-ACC4-BA98-368F-DF533CA0F4DB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code.py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79A5D23F-071D-6EE7-3CD5-13C7E397C17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content.ppt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42643DE-D608-5C5B-33A7-5F16D8AEC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798" y="973118"/>
            <a:ext cx="7290600" cy="541200"/>
          </a:xfrm>
        </p:spPr>
        <p:txBody>
          <a:bodyPr/>
          <a:lstStyle/>
          <a:p>
            <a:r>
              <a:rPr lang="en-US" sz="2400" dirty="0"/>
              <a:t>Types of Plots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2B4C61-1C48-734C-C39F-FE4387CBE414}"/>
              </a:ext>
            </a:extLst>
          </p:cNvPr>
          <p:cNvSpPr txBox="1"/>
          <p:nvPr/>
        </p:nvSpPr>
        <p:spPr>
          <a:xfrm>
            <a:off x="2426432" y="1934715"/>
            <a:ext cx="213959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360"/>
              </a:spcBef>
            </a:pPr>
            <a:r>
              <a:rPr lang="en-US" sz="2000" b="0" i="0" u="none" strike="noStrike" dirty="0">
                <a:solidFill>
                  <a:schemeClr val="accent2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line plot</a:t>
            </a:r>
            <a:endParaRPr lang="en-US" sz="2000" b="0" dirty="0">
              <a:solidFill>
                <a:schemeClr val="accent2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>
              <a:spcBef>
                <a:spcPts val="360"/>
              </a:spcBef>
            </a:pPr>
            <a:r>
              <a:rPr lang="en-US" sz="2000" b="0" i="0" u="none" strike="noStrike" dirty="0">
                <a:solidFill>
                  <a:schemeClr val="accent2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scatter plot</a:t>
            </a:r>
            <a:endParaRPr lang="en-US" sz="2000" b="0" dirty="0">
              <a:solidFill>
                <a:schemeClr val="accent2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>
              <a:spcBef>
                <a:spcPts val="360"/>
              </a:spcBef>
            </a:pPr>
            <a:r>
              <a:rPr lang="en-US" sz="2000" b="0" i="0" u="none" strike="noStrike" dirty="0">
                <a:solidFill>
                  <a:schemeClr val="accent2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bar chart</a:t>
            </a:r>
          </a:p>
          <a:p>
            <a:pPr>
              <a:spcBef>
                <a:spcPts val="360"/>
              </a:spcBef>
            </a:pPr>
            <a:r>
              <a:rPr lang="en-US" sz="2000" b="0" i="0" u="none" strike="noStrike" dirty="0">
                <a:solidFill>
                  <a:schemeClr val="accent2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Heatmap</a:t>
            </a:r>
            <a:endParaRPr lang="en-US" sz="2000" b="0" dirty="0">
              <a:solidFill>
                <a:schemeClr val="accent2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DD7F9C-A1A5-165F-C4CF-4DAF8C1AD745}"/>
              </a:ext>
            </a:extLst>
          </p:cNvPr>
          <p:cNvSpPr txBox="1"/>
          <p:nvPr/>
        </p:nvSpPr>
        <p:spPr>
          <a:xfrm>
            <a:off x="5326803" y="1934715"/>
            <a:ext cx="45771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</a:pPr>
            <a:r>
              <a:rPr lang="en-US" sz="2000" b="0" i="0" u="none" strike="noStrike" dirty="0">
                <a:solidFill>
                  <a:schemeClr val="accent2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Histogram</a:t>
            </a:r>
          </a:p>
          <a:p>
            <a:pPr>
              <a:spcBef>
                <a:spcPts val="360"/>
              </a:spcBef>
            </a:pPr>
            <a:r>
              <a:rPr lang="en-US" sz="2000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Pie plot</a:t>
            </a:r>
            <a:endParaRPr lang="en-US" sz="2000" b="0" i="0" u="none" strike="noStrike" dirty="0">
              <a:solidFill>
                <a:schemeClr val="accent2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>
              <a:spcBef>
                <a:spcPts val="360"/>
              </a:spcBef>
            </a:pPr>
            <a:r>
              <a:rPr lang="en-US" sz="2000" b="0" i="0" u="none" strike="noStrike" dirty="0">
                <a:solidFill>
                  <a:schemeClr val="accent2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box plot</a:t>
            </a:r>
            <a:endParaRPr lang="en-US" sz="2000" b="0" dirty="0">
              <a:solidFill>
                <a:schemeClr val="accent2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>
              <a:spcBef>
                <a:spcPts val="360"/>
              </a:spcBef>
            </a:pPr>
            <a:r>
              <a:rPr lang="en-US" sz="2000" b="0" i="0" u="none" strike="noStrike" dirty="0">
                <a:solidFill>
                  <a:schemeClr val="accent2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stack plot</a:t>
            </a:r>
            <a:endParaRPr lang="en-US" sz="2000" b="0" dirty="0">
              <a:solidFill>
                <a:schemeClr val="accent2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985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03A64E77-FD0D-BFFA-C703-0D9746372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7">
            <a:extLst>
              <a:ext uri="{FF2B5EF4-FFF2-40B4-BE49-F238E27FC236}">
                <a16:creationId xmlns:a16="http://schemas.microsoft.com/office/drawing/2014/main" id="{CCFC5D75-541B-BFCF-0604-521598BEABC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Matplotlib 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612886FA-EA9A-7041-F020-DA733F0E31D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c</a:t>
            </a:r>
            <a:r>
              <a:rPr lang="en" sz="1400" dirty="0">
                <a:solidFill>
                  <a:schemeClr val="accent3"/>
                </a:solidFill>
              </a:rPr>
              <a:t>ode.py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66" name="Google Shape;466;p27">
            <a:extLst>
              <a:ext uri="{FF2B5EF4-FFF2-40B4-BE49-F238E27FC236}">
                <a16:creationId xmlns:a16="http://schemas.microsoft.com/office/drawing/2014/main" id="{A0A9AFDB-DD0B-D713-C862-01218283981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content.ppt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7849017E-8243-DD2D-57CA-9B6BC2E40AC8}"/>
              </a:ext>
            </a:extLst>
          </p:cNvPr>
          <p:cNvSpPr txBox="1">
            <a:spLocks/>
          </p:cNvSpPr>
          <p:nvPr/>
        </p:nvSpPr>
        <p:spPr>
          <a:xfrm>
            <a:off x="1492571" y="893438"/>
            <a:ext cx="72906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Fira Code"/>
              <a:buNone/>
              <a:defRPr sz="30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ra Code"/>
              <a:buNone/>
              <a:defRPr sz="52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sz="3200" dirty="0"/>
              <a:t>Important </a:t>
            </a:r>
            <a:r>
              <a:rPr lang="en-US" sz="3200" dirty="0" err="1"/>
              <a:t>func</a:t>
            </a:r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A1ACC0-E095-C718-AEE9-E16156607ABB}"/>
              </a:ext>
            </a:extLst>
          </p:cNvPr>
          <p:cNvSpPr txBox="1"/>
          <p:nvPr/>
        </p:nvSpPr>
        <p:spPr>
          <a:xfrm>
            <a:off x="1492571" y="1879252"/>
            <a:ext cx="457713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sz="1400" b="0" i="0" u="none" strike="noStrike" dirty="0">
                <a:solidFill>
                  <a:srgbClr val="C586C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import</a:t>
            </a:r>
            <a:r>
              <a:rPr lang="en-US" sz="14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matplotlib.pyplot </a:t>
            </a:r>
            <a:r>
              <a:rPr lang="en-US" sz="1400" b="0" i="0" u="none" strike="noStrike" dirty="0">
                <a:solidFill>
                  <a:srgbClr val="C586C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as</a:t>
            </a:r>
            <a:r>
              <a:rPr lang="en-US" sz="14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plt</a:t>
            </a:r>
            <a:endParaRPr lang="en-US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br>
              <a:rPr lang="en-US" b="0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r>
              <a:rPr lang="en-US" sz="14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plt.xlabel</a:t>
            </a:r>
            <a:r>
              <a:rPr lang="en-US" sz="14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40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'Label on X Axis'</a:t>
            </a:r>
            <a:r>
              <a:rPr lang="en-US" sz="14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endParaRPr lang="en-US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4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plt.ylabel</a:t>
            </a:r>
            <a:r>
              <a:rPr lang="en-US" sz="14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40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'Label on Y Axis'</a:t>
            </a:r>
            <a:r>
              <a:rPr lang="en-US" sz="14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endParaRPr lang="en-US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4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plt.title</a:t>
            </a:r>
            <a:r>
              <a:rPr lang="en-US" sz="14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40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'Plot Title'</a:t>
            </a:r>
            <a:r>
              <a:rPr lang="en-US" sz="14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endParaRPr lang="en-US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r>
              <a:rPr lang="en-US" sz="14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plt.show</a:t>
            </a:r>
            <a:r>
              <a:rPr lang="en-US" sz="14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()</a:t>
            </a:r>
            <a:endParaRPr lang="en-US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D872645-8B8A-CAED-9726-A434F5BB9282}"/>
              </a:ext>
            </a:extLst>
          </p:cNvPr>
          <p:cNvGrpSpPr/>
          <p:nvPr/>
        </p:nvGrpSpPr>
        <p:grpSpPr>
          <a:xfrm>
            <a:off x="5316134" y="828136"/>
            <a:ext cx="3412848" cy="3487228"/>
            <a:chOff x="5094947" y="1017142"/>
            <a:chExt cx="3155202" cy="3354078"/>
          </a:xfrm>
        </p:grpSpPr>
        <p:pic>
          <p:nvPicPr>
            <p:cNvPr id="5124" name="Picture 4" descr="Windows 9x/NT Blank Window Template by user12720127301998 on DeviantArt">
              <a:extLst>
                <a:ext uri="{FF2B5EF4-FFF2-40B4-BE49-F238E27FC236}">
                  <a16:creationId xmlns:a16="http://schemas.microsoft.com/office/drawing/2014/main" id="{886783BC-B965-DC26-C5D0-DAB45CDC60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94947" y="1017142"/>
              <a:ext cx="3155202" cy="3354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2" name="Picture 2">
              <a:extLst>
                <a:ext uri="{FF2B5EF4-FFF2-40B4-BE49-F238E27FC236}">
                  <a16:creationId xmlns:a16="http://schemas.microsoft.com/office/drawing/2014/main" id="{27ED5400-5772-2AEB-A2E5-ABEF8E9B4B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94947" y="1397234"/>
              <a:ext cx="3074042" cy="29357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781984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2A010647-F41E-5A40-11D6-EFD4BCD3E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7">
            <a:extLst>
              <a:ext uri="{FF2B5EF4-FFF2-40B4-BE49-F238E27FC236}">
                <a16:creationId xmlns:a16="http://schemas.microsoft.com/office/drawing/2014/main" id="{A079ECDC-4365-3857-A376-CC1B147AC6B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Matplotlib 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2F990195-FF9F-0FAE-54CD-D7E5AE4D9D5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c</a:t>
            </a:r>
            <a:r>
              <a:rPr lang="en" sz="1400" dirty="0">
                <a:solidFill>
                  <a:schemeClr val="accent3"/>
                </a:solidFill>
              </a:rPr>
              <a:t>ode.py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66" name="Google Shape;466;p27">
            <a:extLst>
              <a:ext uri="{FF2B5EF4-FFF2-40B4-BE49-F238E27FC236}">
                <a16:creationId xmlns:a16="http://schemas.microsoft.com/office/drawing/2014/main" id="{37EE657E-F544-1ACC-BA1D-0846EAD067A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content.ppt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AFE695-DF1D-D2F5-D0C9-158FD0261018}"/>
              </a:ext>
            </a:extLst>
          </p:cNvPr>
          <p:cNvSpPr txBox="1"/>
          <p:nvPr/>
        </p:nvSpPr>
        <p:spPr>
          <a:xfrm>
            <a:off x="1438382" y="1333945"/>
            <a:ext cx="458227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sz="1400" b="0" i="0" u="none" strike="noStrike" dirty="0">
                <a:solidFill>
                  <a:srgbClr val="C586C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import</a:t>
            </a:r>
            <a:r>
              <a:rPr lang="en-US" sz="14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matplotlib.pyplot </a:t>
            </a:r>
            <a:r>
              <a:rPr lang="en-US" sz="1400" b="0" i="0" u="none" strike="noStrike" dirty="0">
                <a:solidFill>
                  <a:srgbClr val="C586C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as</a:t>
            </a:r>
            <a:r>
              <a:rPr lang="en-US" sz="14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plt</a:t>
            </a:r>
            <a:endParaRPr lang="en-US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br>
              <a:rPr lang="en-US" b="0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r>
              <a:rPr lang="en-US" sz="1400" b="0" i="0" u="none" strike="noStrike" dirty="0">
                <a:solidFill>
                  <a:srgbClr val="6AA94F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 Sample data</a:t>
            </a:r>
            <a:endParaRPr lang="en-US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4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months = </a:t>
            </a:r>
            <a:r>
              <a:rPr lang="en-US" sz="14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[</a:t>
            </a:r>
            <a:r>
              <a:rPr lang="en-US" sz="140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'Jan'</a:t>
            </a:r>
            <a:r>
              <a:rPr lang="en-US" sz="14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4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40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'Feb'</a:t>
            </a:r>
            <a:r>
              <a:rPr lang="en-US" sz="14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4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40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'Mar'</a:t>
            </a:r>
            <a:r>
              <a:rPr lang="en-US" sz="14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4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40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'Apr'</a:t>
            </a:r>
            <a:r>
              <a:rPr lang="en-US" sz="14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4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40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'May'</a:t>
            </a:r>
            <a:r>
              <a:rPr lang="en-US" sz="14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4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40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'Jun'</a:t>
            </a:r>
            <a:r>
              <a:rPr lang="en-US" sz="14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]</a:t>
            </a:r>
            <a:endParaRPr lang="en-US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4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sales = </a:t>
            </a:r>
            <a:r>
              <a:rPr lang="en-US" sz="14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[</a:t>
            </a:r>
            <a:r>
              <a:rPr lang="en-US" sz="14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150</a:t>
            </a:r>
            <a:r>
              <a:rPr lang="en-US" sz="14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4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4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200</a:t>
            </a:r>
            <a:r>
              <a:rPr lang="en-US" sz="14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4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4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250</a:t>
            </a:r>
            <a:r>
              <a:rPr lang="en-US" sz="14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4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4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300</a:t>
            </a:r>
            <a:r>
              <a:rPr lang="en-US" sz="14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4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4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350</a:t>
            </a:r>
            <a:r>
              <a:rPr lang="en-US" sz="14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4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4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400</a:t>
            </a:r>
            <a:r>
              <a:rPr lang="en-US" sz="14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]</a:t>
            </a:r>
            <a:endParaRPr lang="en-US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br>
              <a:rPr lang="en-US" b="0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r>
              <a:rPr lang="en-US" sz="1400" b="0" i="0" u="none" strike="noStrike" dirty="0">
                <a:solidFill>
                  <a:srgbClr val="6AA94F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 Create line plot</a:t>
            </a:r>
            <a:endParaRPr lang="en-US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4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plt.plot</a:t>
            </a:r>
            <a:r>
              <a:rPr lang="en-US" sz="14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4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months</a:t>
            </a:r>
            <a:r>
              <a:rPr lang="en-US" sz="14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4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sales</a:t>
            </a:r>
            <a:r>
              <a:rPr lang="en-US" sz="14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endParaRPr lang="en-US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br>
              <a:rPr lang="en-US" b="0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r>
              <a:rPr lang="en-US" sz="14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plt.xlabel</a:t>
            </a:r>
            <a:r>
              <a:rPr lang="en-US" sz="14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40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'Month'</a:t>
            </a:r>
            <a:r>
              <a:rPr lang="en-US" sz="14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endParaRPr lang="en-US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4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plt.ylabel</a:t>
            </a:r>
            <a:r>
              <a:rPr lang="en-US" sz="14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40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'Sales (Units)'</a:t>
            </a:r>
            <a:r>
              <a:rPr lang="en-US" sz="14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endParaRPr lang="en-US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4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plt.title</a:t>
            </a:r>
            <a:r>
              <a:rPr lang="en-US" sz="14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40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'Monthly Sales Over Time'</a:t>
            </a:r>
            <a:r>
              <a:rPr lang="en-US" sz="14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endParaRPr lang="en-US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4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plt.show</a:t>
            </a:r>
            <a:r>
              <a:rPr lang="en-US" sz="14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()</a:t>
            </a:r>
            <a:endParaRPr lang="en-US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br>
              <a:rPr lang="en-US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endParaRPr lang="en-US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FCEEE9-B155-6AB9-03DE-1AD042A25202}"/>
              </a:ext>
            </a:extLst>
          </p:cNvPr>
          <p:cNvSpPr txBox="1"/>
          <p:nvPr/>
        </p:nvSpPr>
        <p:spPr>
          <a:xfrm>
            <a:off x="1438382" y="632075"/>
            <a:ext cx="62672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640"/>
              </a:spcBef>
            </a:pPr>
            <a:r>
              <a:rPr lang="en-US" sz="2800" b="0" i="0" u="none" strike="noStrike" dirty="0">
                <a:solidFill>
                  <a:schemeClr val="bg1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line plot - data over time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15B041E-C8CC-A815-AA17-7639E367FC2F}"/>
              </a:ext>
            </a:extLst>
          </p:cNvPr>
          <p:cNvGrpSpPr/>
          <p:nvPr/>
        </p:nvGrpSpPr>
        <p:grpSpPr>
          <a:xfrm>
            <a:off x="2436599" y="1216223"/>
            <a:ext cx="4481036" cy="3657152"/>
            <a:chOff x="5493032" y="1716709"/>
            <a:chExt cx="3157161" cy="2163994"/>
          </a:xfrm>
        </p:grpSpPr>
        <p:pic>
          <p:nvPicPr>
            <p:cNvPr id="6148" name="Picture 4" descr="Windows 9x/NT Blank Window Template by user12720127301998 on DeviantArt">
              <a:extLst>
                <a:ext uri="{FF2B5EF4-FFF2-40B4-BE49-F238E27FC236}">
                  <a16:creationId xmlns:a16="http://schemas.microsoft.com/office/drawing/2014/main" id="{B26433FB-1A91-A8F6-998F-340B24A01C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93032" y="1716709"/>
              <a:ext cx="3157161" cy="21639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46" name="Picture 2">
              <a:extLst>
                <a:ext uri="{FF2B5EF4-FFF2-40B4-BE49-F238E27FC236}">
                  <a16:creationId xmlns:a16="http://schemas.microsoft.com/office/drawing/2014/main" id="{7CD8D694-4661-8781-F712-B70C44E61D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4128" y="1903195"/>
              <a:ext cx="3074968" cy="19775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420721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65EF2DF7-2774-9712-5BFE-82E0463C7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7">
            <a:extLst>
              <a:ext uri="{FF2B5EF4-FFF2-40B4-BE49-F238E27FC236}">
                <a16:creationId xmlns:a16="http://schemas.microsoft.com/office/drawing/2014/main" id="{C7B5F83A-E888-C10E-51F5-DA57E8F2C70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Matplotlib 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CFCAAAE3-4A85-140F-8E40-3FF2D9758A4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c</a:t>
            </a:r>
            <a:r>
              <a:rPr lang="en" sz="1400" dirty="0">
                <a:solidFill>
                  <a:schemeClr val="accent3"/>
                </a:solidFill>
              </a:rPr>
              <a:t>ode.py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66" name="Google Shape;466;p27">
            <a:extLst>
              <a:ext uri="{FF2B5EF4-FFF2-40B4-BE49-F238E27FC236}">
                <a16:creationId xmlns:a16="http://schemas.microsoft.com/office/drawing/2014/main" id="{F18AAB4C-2588-02F0-3193-6E95FCBBA6C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content.ppt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326CC6-2C2C-4241-6ADD-0516E0EDFB0D}"/>
              </a:ext>
            </a:extLst>
          </p:cNvPr>
          <p:cNvSpPr txBox="1"/>
          <p:nvPr/>
        </p:nvSpPr>
        <p:spPr>
          <a:xfrm>
            <a:off x="1481209" y="666209"/>
            <a:ext cx="61696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base"/>
            <a:r>
              <a:rPr lang="en-US" sz="2400" b="0" i="0" u="none" strike="noStrike" dirty="0">
                <a:solidFill>
                  <a:schemeClr val="bg1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Scatter Plot - showing clusters</a:t>
            </a:r>
            <a:endParaRPr lang="en-US" sz="1600" b="0" i="0" u="none" strike="noStrike" dirty="0">
              <a:solidFill>
                <a:schemeClr val="bg1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A74D49-9F10-BE0D-9FCA-A8E7D1890493}"/>
              </a:ext>
            </a:extLst>
          </p:cNvPr>
          <p:cNvSpPr txBox="1"/>
          <p:nvPr/>
        </p:nvSpPr>
        <p:spPr>
          <a:xfrm>
            <a:off x="1273996" y="1127874"/>
            <a:ext cx="4582274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sz="1100" b="0" i="0" u="none" strike="noStrike" dirty="0">
                <a:solidFill>
                  <a:srgbClr val="6AA94F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 Cluster 1</a:t>
            </a:r>
            <a:endParaRPr lang="en-US" sz="11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x1 = np.random.normal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1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5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1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1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1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50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endParaRPr lang="en-US" sz="11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y1 = np.random.normal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1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5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1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1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1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50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endParaRPr lang="en-US" sz="11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100" b="0" i="0" u="none" strike="noStrike" dirty="0">
                <a:solidFill>
                  <a:srgbClr val="6AA94F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 Cluster 2</a:t>
            </a:r>
            <a:endParaRPr lang="en-US" sz="11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x2 = np.random.normal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1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10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1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1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1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50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endParaRPr lang="en-US" sz="11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y2 = np.random.normal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1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10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1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1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1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50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endParaRPr lang="en-US" sz="11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br>
              <a:rPr lang="en-US" sz="1100" b="0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r>
              <a:rPr lang="en-US" sz="1100" b="0" i="0" u="none" strike="noStrike" dirty="0">
                <a:solidFill>
                  <a:srgbClr val="6AA94F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 Combine data</a:t>
            </a:r>
            <a:endParaRPr lang="en-US" sz="11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x = </a:t>
            </a:r>
            <a:r>
              <a:rPr lang="en-US" sz="11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np.concatenate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((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x1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x2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))</a:t>
            </a:r>
            <a:endParaRPr lang="en-US" sz="11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y = </a:t>
            </a:r>
            <a:r>
              <a:rPr lang="en-US" sz="11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np.concatenate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((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y1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y2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))</a:t>
            </a:r>
            <a:endParaRPr lang="en-US" sz="11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colors = 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[</a:t>
            </a:r>
            <a:r>
              <a:rPr lang="en-US" sz="110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'blue'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]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* </a:t>
            </a:r>
            <a:r>
              <a:rPr lang="en-US" sz="11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50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+ 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[</a:t>
            </a:r>
            <a:r>
              <a:rPr lang="en-US" sz="110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'green'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]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* </a:t>
            </a:r>
            <a:r>
              <a:rPr lang="en-US" sz="11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50</a:t>
            </a:r>
            <a:endParaRPr lang="en-US" sz="11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br>
              <a:rPr lang="en-US" sz="1100" b="0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r>
              <a:rPr lang="en-US" sz="1100" b="0" i="0" u="none" strike="noStrike" dirty="0">
                <a:solidFill>
                  <a:srgbClr val="6AA94F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 Create scatter plot</a:t>
            </a:r>
            <a:endParaRPr lang="en-US" sz="11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1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plt.scatter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x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y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1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c=colors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endParaRPr lang="en-US" sz="11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br>
              <a:rPr lang="en-US" sz="1100" b="0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r>
              <a:rPr lang="en-US" sz="1100" b="0" i="0" u="none" strike="noStrike" dirty="0">
                <a:solidFill>
                  <a:srgbClr val="6AA94F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 Add labels and title</a:t>
            </a:r>
            <a:endParaRPr lang="en-US" sz="11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1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plt.xlabel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10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'Feature X'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endParaRPr lang="en-US" sz="11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1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plt.ylabel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10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'Feature Y'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endParaRPr lang="en-US" sz="11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1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plt.title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10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'Scatter Plot with Clusters'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endParaRPr lang="en-US" sz="11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1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plt.show</a:t>
            </a:r>
            <a:r>
              <a:rPr lang="en-US" sz="11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()</a:t>
            </a:r>
            <a:endParaRPr lang="en-US" sz="11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br>
              <a:rPr lang="en-US" sz="11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endParaRPr lang="en-US" sz="1100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37FED82-7BBD-B2F3-8655-8286FE6E76F1}"/>
              </a:ext>
            </a:extLst>
          </p:cNvPr>
          <p:cNvGrpSpPr/>
          <p:nvPr/>
        </p:nvGrpSpPr>
        <p:grpSpPr>
          <a:xfrm>
            <a:off x="2280025" y="1217325"/>
            <a:ext cx="4657488" cy="3566851"/>
            <a:chOff x="4566025" y="1253446"/>
            <a:chExt cx="4053301" cy="3041008"/>
          </a:xfrm>
        </p:grpSpPr>
        <p:pic>
          <p:nvPicPr>
            <p:cNvPr id="7172" name="Picture 4" descr="Windows 9x/NT Blank Window Template by user12720127301998 on DeviantArt">
              <a:extLst>
                <a:ext uri="{FF2B5EF4-FFF2-40B4-BE49-F238E27FC236}">
                  <a16:creationId xmlns:a16="http://schemas.microsoft.com/office/drawing/2014/main" id="{A8A9BE5F-88F3-D323-7907-457A02F083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6025" y="1253446"/>
              <a:ext cx="4053301" cy="3041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74" name="Picture 6">
              <a:extLst>
                <a:ext uri="{FF2B5EF4-FFF2-40B4-BE49-F238E27FC236}">
                  <a16:creationId xmlns:a16="http://schemas.microsoft.com/office/drawing/2014/main" id="{93E94D2A-374B-FD8D-A47A-2B710352F7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1690" y="1528144"/>
              <a:ext cx="4037636" cy="27663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67393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6EB2D1BE-40AE-C3E6-F7E5-7B623D38B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7">
            <a:extLst>
              <a:ext uri="{FF2B5EF4-FFF2-40B4-BE49-F238E27FC236}">
                <a16:creationId xmlns:a16="http://schemas.microsoft.com/office/drawing/2014/main" id="{9C1C431E-A9C8-616C-E36C-41BC31C8E3E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Matplotlib 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BCBB7724-0E16-44F9-844D-1EAEADE1FE4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c</a:t>
            </a:r>
            <a:r>
              <a:rPr lang="en" sz="1400" dirty="0">
                <a:solidFill>
                  <a:schemeClr val="accent3"/>
                </a:solidFill>
              </a:rPr>
              <a:t>ode.py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66" name="Google Shape;466;p27">
            <a:extLst>
              <a:ext uri="{FF2B5EF4-FFF2-40B4-BE49-F238E27FC236}">
                <a16:creationId xmlns:a16="http://schemas.microsoft.com/office/drawing/2014/main" id="{87E5BCD0-8205-EE80-5780-12B28F65E23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content.ppt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6FB2A1-442C-0FF8-FC35-C5F4C0108D98}"/>
              </a:ext>
            </a:extLst>
          </p:cNvPr>
          <p:cNvSpPr txBox="1"/>
          <p:nvPr/>
        </p:nvSpPr>
        <p:spPr>
          <a:xfrm>
            <a:off x="1273995" y="1548366"/>
            <a:ext cx="4582274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sz="1200" b="0" i="0" u="none" strike="noStrike" dirty="0">
                <a:solidFill>
                  <a:srgbClr val="6AA94F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 Sample data</a:t>
            </a:r>
            <a:endParaRPr lang="en-US" sz="12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2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subjects = </a:t>
            </a:r>
            <a:r>
              <a:rPr lang="en-US" sz="12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[</a:t>
            </a:r>
            <a:r>
              <a:rPr lang="en-US" sz="120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'Math'</a:t>
            </a:r>
            <a:r>
              <a:rPr lang="en-US" sz="12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2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'Science'</a:t>
            </a:r>
            <a:r>
              <a:rPr lang="en-US" sz="12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2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'English'</a:t>
            </a:r>
            <a:r>
              <a:rPr lang="en-US" sz="12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2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'History'</a:t>
            </a:r>
            <a:r>
              <a:rPr lang="en-US" sz="12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2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'Art'</a:t>
            </a:r>
            <a:r>
              <a:rPr lang="en-US" sz="12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]</a:t>
            </a:r>
            <a:endParaRPr lang="en-US" sz="12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2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scores = </a:t>
            </a:r>
            <a:r>
              <a:rPr lang="en-US" sz="12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[</a:t>
            </a:r>
            <a:r>
              <a:rPr lang="en-US" sz="12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67</a:t>
            </a:r>
            <a:r>
              <a:rPr lang="en-US" sz="12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2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80</a:t>
            </a:r>
            <a:r>
              <a:rPr lang="en-US" sz="12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2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79</a:t>
            </a:r>
            <a:r>
              <a:rPr lang="en-US" sz="12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2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70</a:t>
            </a:r>
            <a:r>
              <a:rPr lang="en-US" sz="12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2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90</a:t>
            </a:r>
            <a:r>
              <a:rPr lang="en-US" sz="12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]</a:t>
            </a:r>
            <a:endParaRPr lang="en-US" sz="12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br>
              <a:rPr lang="en-US" sz="1200" b="0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r>
              <a:rPr lang="en-US" sz="1200" b="0" i="0" u="none" strike="noStrike" dirty="0">
                <a:solidFill>
                  <a:srgbClr val="6AA94F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 Create bar chart</a:t>
            </a:r>
            <a:endParaRPr lang="en-US" sz="12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2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plt.bar</a:t>
            </a:r>
            <a:r>
              <a:rPr lang="en-US" sz="12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2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subjects</a:t>
            </a:r>
            <a:r>
              <a:rPr lang="en-US" sz="12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2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scores</a:t>
            </a:r>
            <a:r>
              <a:rPr lang="en-US" sz="12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endParaRPr lang="en-US" sz="12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br>
              <a:rPr lang="en-US" sz="1200" b="0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r>
              <a:rPr lang="en-US" sz="1200" b="0" i="0" u="none" strike="noStrike" dirty="0">
                <a:solidFill>
                  <a:srgbClr val="6AA94F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 Add labels and title</a:t>
            </a:r>
            <a:endParaRPr lang="en-US" sz="12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2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plt.xlabel</a:t>
            </a:r>
            <a:r>
              <a:rPr lang="en-US" sz="12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20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'Subjects'</a:t>
            </a:r>
            <a:r>
              <a:rPr lang="en-US" sz="12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endParaRPr lang="en-US" sz="12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2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plt.ylabel</a:t>
            </a:r>
            <a:r>
              <a:rPr lang="en-US" sz="12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20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'Scores'</a:t>
            </a:r>
            <a:r>
              <a:rPr lang="en-US" sz="12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endParaRPr lang="en-US" sz="12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2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plt.title</a:t>
            </a:r>
            <a:r>
              <a:rPr lang="en-US" sz="12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20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'Student Scores by Subject'</a:t>
            </a:r>
            <a:r>
              <a:rPr lang="en-US" sz="12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endParaRPr lang="en-US" sz="12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r>
              <a:rPr lang="en-US" sz="12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plt.show</a:t>
            </a:r>
            <a:r>
              <a:rPr lang="en-US" sz="12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()</a:t>
            </a:r>
            <a:endParaRPr lang="en-US" sz="1200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4F4E39-0C4E-2BFF-2F2E-EB7966ED9EB3}"/>
              </a:ext>
            </a:extLst>
          </p:cNvPr>
          <p:cNvSpPr txBox="1"/>
          <p:nvPr/>
        </p:nvSpPr>
        <p:spPr>
          <a:xfrm>
            <a:off x="710125" y="681485"/>
            <a:ext cx="79920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2400" b="0" i="0" u="none" strike="noStrike" dirty="0">
                <a:solidFill>
                  <a:schemeClr val="bg1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Bar Chart - Comparing Categorical Data</a:t>
            </a:r>
            <a:endParaRPr lang="en-US" sz="2400" b="0" dirty="0">
              <a:solidFill>
                <a:schemeClr val="bg1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br>
              <a:rPr lang="en-US" sz="2400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endParaRPr lang="en-US" sz="2400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5A4EB52-E8CC-3B59-33D3-061688070CF2}"/>
              </a:ext>
            </a:extLst>
          </p:cNvPr>
          <p:cNvGrpSpPr/>
          <p:nvPr/>
        </p:nvGrpSpPr>
        <p:grpSpPr>
          <a:xfrm>
            <a:off x="2483024" y="1222392"/>
            <a:ext cx="4693027" cy="3757111"/>
            <a:chOff x="1561671" y="312694"/>
            <a:chExt cx="6010383" cy="483080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C5A26A9-B110-AFBB-A7BA-ED314AD96A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1671" y="312694"/>
              <a:ext cx="6010383" cy="4830806"/>
            </a:xfrm>
            <a:prstGeom prst="rect">
              <a:avLst/>
            </a:prstGeom>
          </p:spPr>
        </p:pic>
        <p:pic>
          <p:nvPicPr>
            <p:cNvPr id="8194" name="Picture 2">
              <a:extLst>
                <a:ext uri="{FF2B5EF4-FFF2-40B4-BE49-F238E27FC236}">
                  <a16:creationId xmlns:a16="http://schemas.microsoft.com/office/drawing/2014/main" id="{75D9089A-5B38-16FA-BE3F-DBA7A59888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8492" y="846723"/>
              <a:ext cx="5815066" cy="39840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72142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F1E8813A-7BD4-145E-AA32-6AD5CE18D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7">
            <a:extLst>
              <a:ext uri="{FF2B5EF4-FFF2-40B4-BE49-F238E27FC236}">
                <a16:creationId xmlns:a16="http://schemas.microsoft.com/office/drawing/2014/main" id="{CE50C509-0AF4-F68E-6150-91A35068E58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Matplotlib 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6D080B0C-AAE0-3125-D22B-7DAD9E6E569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c</a:t>
            </a:r>
            <a:r>
              <a:rPr lang="en" sz="1400" dirty="0">
                <a:solidFill>
                  <a:schemeClr val="accent3"/>
                </a:solidFill>
              </a:rPr>
              <a:t>ode.py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66" name="Google Shape;466;p27">
            <a:extLst>
              <a:ext uri="{FF2B5EF4-FFF2-40B4-BE49-F238E27FC236}">
                <a16:creationId xmlns:a16="http://schemas.microsoft.com/office/drawing/2014/main" id="{DABB8095-98F3-EB9E-435C-96F5D0E2F28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content.ppt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EA7F21-64A9-554D-E541-FCB0E430C4ED}"/>
              </a:ext>
            </a:extLst>
          </p:cNvPr>
          <p:cNvSpPr txBox="1"/>
          <p:nvPr/>
        </p:nvSpPr>
        <p:spPr>
          <a:xfrm>
            <a:off x="1249517" y="1562771"/>
            <a:ext cx="5860199" cy="3162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sz="105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df</a:t>
            </a:r>
            <a:r>
              <a:rPr lang="en-US" sz="105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= </a:t>
            </a:r>
            <a:r>
              <a:rPr lang="en-US" sz="105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pd.read_csv</a:t>
            </a:r>
            <a:r>
              <a:rPr lang="en-US" sz="105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05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'subject_scores_data.csv'</a:t>
            </a:r>
            <a:r>
              <a:rPr lang="en-US" sz="105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br>
              <a:rPr lang="en-US" sz="1050" b="0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r>
              <a:rPr lang="en-US" sz="1050" b="0" i="0" u="none" strike="noStrike" dirty="0">
                <a:solidFill>
                  <a:srgbClr val="6AA94F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 Compute the correlation matrix</a:t>
            </a:r>
            <a:endParaRPr lang="en-US" sz="105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05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corr_matrix</a:t>
            </a:r>
            <a:r>
              <a:rPr lang="en-US" sz="105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= </a:t>
            </a:r>
            <a:r>
              <a:rPr lang="en-US" sz="105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df.corr</a:t>
            </a:r>
            <a:r>
              <a:rPr lang="en-US" sz="105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()</a:t>
            </a:r>
          </a:p>
          <a:p>
            <a:pPr rtl="0"/>
            <a:br>
              <a:rPr lang="en-US" sz="1050" b="0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r>
              <a:rPr lang="en-US" sz="1050" b="0" i="0" u="none" strike="noStrike" dirty="0">
                <a:solidFill>
                  <a:srgbClr val="6AA94F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 Create heatmap</a:t>
            </a:r>
            <a:endParaRPr lang="en-US" sz="105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05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plt.imshow</a:t>
            </a:r>
            <a:r>
              <a:rPr lang="en-US" sz="105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05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corr_matrix</a:t>
            </a:r>
            <a:r>
              <a:rPr lang="en-US" sz="105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05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05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cmap</a:t>
            </a:r>
            <a:r>
              <a:rPr lang="en-US" sz="105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=</a:t>
            </a:r>
            <a:r>
              <a:rPr lang="en-US" sz="105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'</a:t>
            </a:r>
            <a:r>
              <a:rPr lang="en-US" sz="1050" b="0" i="0" u="none" strike="noStrike" dirty="0" err="1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coolwarm</a:t>
            </a:r>
            <a:r>
              <a:rPr lang="en-US" sz="105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’</a:t>
            </a:r>
            <a:r>
              <a:rPr lang="en-US" sz="105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</a:p>
          <a:p>
            <a:pPr rtl="0"/>
            <a:br>
              <a:rPr lang="en-US" sz="1050" b="0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r>
              <a:rPr lang="en-US" sz="1050" b="0" i="0" u="none" strike="noStrike" dirty="0">
                <a:solidFill>
                  <a:srgbClr val="6AA94F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 Add </a:t>
            </a:r>
            <a:r>
              <a:rPr lang="en-US" sz="1050" b="0" i="0" u="none" strike="noStrike" dirty="0" err="1">
                <a:solidFill>
                  <a:srgbClr val="6AA94F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colorbar</a:t>
            </a:r>
            <a:endParaRPr lang="en-US" sz="105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05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plt.colorbar</a:t>
            </a:r>
            <a:r>
              <a:rPr lang="en-US" sz="105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05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label=</a:t>
            </a:r>
            <a:r>
              <a:rPr lang="en-US" sz="105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'Correlation Coefficient’</a:t>
            </a:r>
            <a:r>
              <a:rPr lang="en-US" sz="105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</a:p>
          <a:p>
            <a:pPr rtl="0"/>
            <a:br>
              <a:rPr lang="en-US" sz="1050" b="0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r>
              <a:rPr lang="en-US" sz="1050" b="0" i="0" u="none" strike="noStrike" dirty="0">
                <a:solidFill>
                  <a:srgbClr val="6AA94F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 Add labels</a:t>
            </a:r>
            <a:endParaRPr lang="en-US" sz="105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05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plt.xticks</a:t>
            </a:r>
            <a:r>
              <a:rPr lang="en-US" sz="105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05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ticks</a:t>
            </a:r>
            <a:r>
              <a:rPr lang="en-US" sz="105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05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05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corr_matrix.columns</a:t>
            </a:r>
            <a:r>
              <a:rPr lang="en-US" sz="105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05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rotation=</a:t>
            </a:r>
            <a:r>
              <a:rPr lang="en-US" sz="105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45</a:t>
            </a:r>
            <a:r>
              <a:rPr lang="en-US" sz="105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05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ha=</a:t>
            </a:r>
            <a:r>
              <a:rPr lang="en-US" sz="105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'right’</a:t>
            </a:r>
            <a:r>
              <a:rPr lang="en-US" sz="105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endParaRPr lang="en-US" sz="105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05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plt.yticks</a:t>
            </a:r>
            <a:r>
              <a:rPr lang="en-US" sz="105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05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ticks</a:t>
            </a:r>
            <a:r>
              <a:rPr lang="en-US" sz="105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05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05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corr_matrix.columns</a:t>
            </a:r>
            <a:r>
              <a:rPr lang="en-US" sz="105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</a:p>
          <a:p>
            <a:pPr rtl="0"/>
            <a:br>
              <a:rPr lang="en-US" sz="1050" b="0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r>
              <a:rPr lang="en-US" sz="1050" b="0" i="0" u="none" strike="noStrike" dirty="0">
                <a:solidFill>
                  <a:srgbClr val="6AA94F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 Add title and adjust layout</a:t>
            </a:r>
            <a:endParaRPr lang="en-US" sz="105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05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plt.title</a:t>
            </a:r>
            <a:r>
              <a:rPr lang="en-US" sz="105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05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'Correlation Matrix Heatmap'</a:t>
            </a:r>
            <a:r>
              <a:rPr lang="en-US" sz="105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endParaRPr lang="en-US" sz="105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05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plt.show</a:t>
            </a:r>
            <a:r>
              <a:rPr lang="en-US" sz="105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()</a:t>
            </a:r>
            <a:endParaRPr lang="en-US" sz="105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br>
              <a:rPr lang="en-US" sz="1050" b="0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endParaRPr lang="en-US" sz="1050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A8DD0D-07F2-A696-A5D4-343E6B194AA6}"/>
              </a:ext>
            </a:extLst>
          </p:cNvPr>
          <p:cNvSpPr txBox="1"/>
          <p:nvPr/>
        </p:nvSpPr>
        <p:spPr>
          <a:xfrm>
            <a:off x="1249517" y="728089"/>
            <a:ext cx="68002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Heatmap - Visualizing Correlation Matrices</a:t>
            </a:r>
            <a:endParaRPr lang="en-US" sz="2000" b="0" dirty="0">
              <a:solidFill>
                <a:schemeClr val="bg1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br>
              <a:rPr lang="en-US" sz="2000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endParaRPr lang="en-US" sz="2000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8500A97-F1D3-72C2-C371-BF0BBAE61C9B}"/>
              </a:ext>
            </a:extLst>
          </p:cNvPr>
          <p:cNvGrpSpPr/>
          <p:nvPr/>
        </p:nvGrpSpPr>
        <p:grpSpPr>
          <a:xfrm>
            <a:off x="2829619" y="1221864"/>
            <a:ext cx="3941961" cy="3813769"/>
            <a:chOff x="2178121" y="0"/>
            <a:chExt cx="5044612" cy="484940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D9DF253-F537-5129-1C46-FB4B0EACD6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78121" y="0"/>
              <a:ext cx="5044612" cy="4849402"/>
            </a:xfrm>
            <a:prstGeom prst="rect">
              <a:avLst/>
            </a:prstGeom>
          </p:spPr>
        </p:pic>
        <p:pic>
          <p:nvPicPr>
            <p:cNvPr id="10244" name="Picture 4">
              <a:extLst>
                <a:ext uri="{FF2B5EF4-FFF2-40B4-BE49-F238E27FC236}">
                  <a16:creationId xmlns:a16="http://schemas.microsoft.com/office/drawing/2014/main" id="{534AF465-29B3-9649-8DFD-88CE5E2CFB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0025" y="540350"/>
              <a:ext cx="4858887" cy="41848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882944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FCF5C439-2259-2E26-446E-3BE700FEB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7">
            <a:extLst>
              <a:ext uri="{FF2B5EF4-FFF2-40B4-BE49-F238E27FC236}">
                <a16:creationId xmlns:a16="http://schemas.microsoft.com/office/drawing/2014/main" id="{BFC83C9E-7150-5C02-4199-1DC9AB32353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Matplotlib 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F18B56A2-4266-4D40-D163-5C59F5767D2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c</a:t>
            </a:r>
            <a:r>
              <a:rPr lang="en" sz="1400" dirty="0">
                <a:solidFill>
                  <a:schemeClr val="accent3"/>
                </a:solidFill>
              </a:rPr>
              <a:t>ode.py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66" name="Google Shape;466;p27">
            <a:extLst>
              <a:ext uri="{FF2B5EF4-FFF2-40B4-BE49-F238E27FC236}">
                <a16:creationId xmlns:a16="http://schemas.microsoft.com/office/drawing/2014/main" id="{03FA6AE1-E1ED-7EDE-92DD-F46973F5988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content.ppt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DF750C-7E05-A28B-A988-F393C4D32567}"/>
              </a:ext>
            </a:extLst>
          </p:cNvPr>
          <p:cNvSpPr txBox="1"/>
          <p:nvPr/>
        </p:nvSpPr>
        <p:spPr>
          <a:xfrm>
            <a:off x="1243174" y="1217533"/>
            <a:ext cx="4582274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sz="1200" b="0" i="0" u="none" strike="noStrike" dirty="0">
                <a:solidFill>
                  <a:srgbClr val="C586C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import</a:t>
            </a:r>
            <a:r>
              <a:rPr lang="en-US" sz="12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matplotlib.pyplot </a:t>
            </a:r>
            <a:r>
              <a:rPr lang="en-US" sz="1200" b="0" i="0" u="none" strike="noStrike" dirty="0">
                <a:solidFill>
                  <a:srgbClr val="C586C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as</a:t>
            </a:r>
            <a:r>
              <a:rPr lang="en-US" sz="12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plt</a:t>
            </a:r>
            <a:endParaRPr lang="en-US" sz="12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200" b="0" i="0" u="none" strike="noStrike" dirty="0">
                <a:solidFill>
                  <a:srgbClr val="C586C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import</a:t>
            </a:r>
            <a:r>
              <a:rPr lang="en-US" sz="12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numpy</a:t>
            </a:r>
            <a:r>
              <a:rPr lang="en-US" sz="12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i="0" u="none" strike="noStrike" dirty="0">
                <a:solidFill>
                  <a:srgbClr val="C586C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as</a:t>
            </a:r>
            <a:r>
              <a:rPr lang="en-US" sz="12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np</a:t>
            </a:r>
            <a:endParaRPr lang="en-US" sz="12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br>
              <a:rPr lang="en-US" sz="1200" b="0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r>
              <a:rPr lang="en-US" sz="1200" b="0" i="0" u="none" strike="noStrike" dirty="0">
                <a:solidFill>
                  <a:srgbClr val="6AA94F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 Sample data</a:t>
            </a:r>
            <a:endParaRPr lang="en-US" sz="12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2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exam_scores</a:t>
            </a:r>
            <a:r>
              <a:rPr lang="en-US" sz="12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= np.random.normal</a:t>
            </a:r>
            <a:r>
              <a:rPr lang="en-US" sz="12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2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75</a:t>
            </a:r>
            <a:r>
              <a:rPr lang="en-US" sz="12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2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10</a:t>
            </a:r>
            <a:r>
              <a:rPr lang="en-US" sz="12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2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2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200</a:t>
            </a:r>
            <a:r>
              <a:rPr lang="en-US" sz="12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endParaRPr lang="en-US" sz="12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br>
              <a:rPr lang="en-US" sz="1200" b="0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r>
              <a:rPr lang="en-US" sz="1200" b="0" i="0" u="none" strike="noStrike" dirty="0">
                <a:solidFill>
                  <a:srgbClr val="6AA94F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 Create histogram</a:t>
            </a:r>
            <a:endParaRPr lang="en-US" sz="12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2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plt.hist</a:t>
            </a:r>
            <a:r>
              <a:rPr lang="en-US" sz="12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2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exam_scores</a:t>
            </a:r>
            <a:r>
              <a:rPr lang="en-US" sz="12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2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bins=</a:t>
            </a:r>
            <a:r>
              <a:rPr lang="en-US" sz="12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10</a:t>
            </a:r>
            <a:r>
              <a:rPr lang="en-US" sz="12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endParaRPr lang="en-US" sz="12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br>
              <a:rPr lang="en-US" sz="1200" b="0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r>
              <a:rPr lang="en-US" sz="1200" b="0" i="0" u="none" strike="noStrike" dirty="0">
                <a:solidFill>
                  <a:srgbClr val="6AA94F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 Add labels and title</a:t>
            </a:r>
            <a:endParaRPr lang="en-US" sz="12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2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plt.xlabel</a:t>
            </a:r>
            <a:r>
              <a:rPr lang="en-US" sz="12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20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'Exam Scores'</a:t>
            </a:r>
            <a:r>
              <a:rPr lang="en-US" sz="12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endParaRPr lang="en-US" sz="12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2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plt.ylabel</a:t>
            </a:r>
            <a:r>
              <a:rPr lang="en-US" sz="12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20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'Number of Students'</a:t>
            </a:r>
            <a:r>
              <a:rPr lang="en-US" sz="12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endParaRPr lang="en-US" sz="12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2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plt.title</a:t>
            </a:r>
            <a:r>
              <a:rPr lang="en-US" sz="12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20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'Distribution of Exam Scores'</a:t>
            </a:r>
            <a:r>
              <a:rPr lang="en-US" sz="12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endParaRPr lang="en-US" sz="12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r>
              <a:rPr lang="en-US" sz="12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plt.show</a:t>
            </a:r>
            <a:r>
              <a:rPr lang="en-US" sz="12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()</a:t>
            </a:r>
            <a:endParaRPr lang="en-US" sz="1200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A838F7-ADF2-DB09-A7B0-7F7A66189FA7}"/>
              </a:ext>
            </a:extLst>
          </p:cNvPr>
          <p:cNvSpPr txBox="1"/>
          <p:nvPr/>
        </p:nvSpPr>
        <p:spPr>
          <a:xfrm>
            <a:off x="862191" y="707679"/>
            <a:ext cx="72235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Histogram - Visualizing Data Distribution</a:t>
            </a:r>
            <a:endParaRPr lang="en-US" sz="2000" b="0" dirty="0">
              <a:solidFill>
                <a:schemeClr val="bg1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br>
              <a:rPr lang="en-US" sz="2000" b="0" dirty="0">
                <a:solidFill>
                  <a:schemeClr val="bg1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endParaRPr lang="en-US" sz="2000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5E8FA68-411C-76DB-8DE7-87026A9F0C6D}"/>
              </a:ext>
            </a:extLst>
          </p:cNvPr>
          <p:cNvGrpSpPr/>
          <p:nvPr/>
        </p:nvGrpSpPr>
        <p:grpSpPr>
          <a:xfrm>
            <a:off x="2401696" y="1232108"/>
            <a:ext cx="4962418" cy="3819867"/>
            <a:chOff x="1582220" y="164387"/>
            <a:chExt cx="5979560" cy="460282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C6F0844-1B54-78B5-EC88-9867044A88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82220" y="164387"/>
              <a:ext cx="5979560" cy="4602822"/>
            </a:xfrm>
            <a:prstGeom prst="rect">
              <a:avLst/>
            </a:prstGeom>
          </p:spPr>
        </p:pic>
        <p:pic>
          <p:nvPicPr>
            <p:cNvPr id="9220" name="Picture 4">
              <a:extLst>
                <a:ext uri="{FF2B5EF4-FFF2-40B4-BE49-F238E27FC236}">
                  <a16:creationId xmlns:a16="http://schemas.microsoft.com/office/drawing/2014/main" id="{9BCA0962-DA65-5A36-1DEA-B76236A813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0489" y="686260"/>
              <a:ext cx="5791072" cy="39676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245549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260C5BE9-BF93-06C6-F24C-C68B4D0B5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7">
            <a:extLst>
              <a:ext uri="{FF2B5EF4-FFF2-40B4-BE49-F238E27FC236}">
                <a16:creationId xmlns:a16="http://schemas.microsoft.com/office/drawing/2014/main" id="{F3DBF055-AB84-AE38-5370-E5D75E8A71B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Matplotlib 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482A0551-54A9-5833-EC9B-8D920188690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c</a:t>
            </a:r>
            <a:r>
              <a:rPr lang="en" sz="1400" dirty="0">
                <a:solidFill>
                  <a:schemeClr val="accent3"/>
                </a:solidFill>
              </a:rPr>
              <a:t>ode.py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66" name="Google Shape;466;p27">
            <a:extLst>
              <a:ext uri="{FF2B5EF4-FFF2-40B4-BE49-F238E27FC236}">
                <a16:creationId xmlns:a16="http://schemas.microsoft.com/office/drawing/2014/main" id="{1C621B75-B3FE-DDFB-E81A-B34747F8F03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content.ppt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E1E1FA-C614-7A0F-BA9A-7C94EFF3F81E}"/>
              </a:ext>
            </a:extLst>
          </p:cNvPr>
          <p:cNvSpPr txBox="1"/>
          <p:nvPr/>
        </p:nvSpPr>
        <p:spPr>
          <a:xfrm>
            <a:off x="1243174" y="1217533"/>
            <a:ext cx="4582274" cy="297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200" dirty="0">
                <a:solidFill>
                  <a:srgbClr val="C586C0"/>
                </a:solidFill>
                <a:latin typeface="Courier New" panose="02070309020205020404" pitchFamily="49" charset="0"/>
              </a:rPr>
              <a:t>import</a:t>
            </a:r>
            <a:r>
              <a:rPr lang="en-US" sz="1200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D4D4D4"/>
                </a:solidFill>
                <a:latin typeface="Courier New" panose="02070309020205020404" pitchFamily="49" charset="0"/>
              </a:rPr>
              <a:t>matplotlib.pyplot</a:t>
            </a:r>
            <a:r>
              <a:rPr lang="en-US" sz="1200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C586C0"/>
                </a:solidFill>
                <a:latin typeface="Courier New" panose="02070309020205020404" pitchFamily="49" charset="0"/>
              </a:rPr>
              <a:t>as</a:t>
            </a:r>
            <a:r>
              <a:rPr lang="en-US" sz="1200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D4D4D4"/>
                </a:solidFill>
                <a:latin typeface="Courier New" panose="02070309020205020404" pitchFamily="49" charset="0"/>
              </a:rPr>
              <a:t>plt</a:t>
            </a:r>
            <a:endParaRPr lang="en-US" sz="1200" dirty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200" dirty="0">
                <a:solidFill>
                  <a:srgbClr val="D4D4D4"/>
                </a:solidFill>
                <a:latin typeface="Courier New" panose="02070309020205020404" pitchFamily="49" charset="0"/>
              </a:rPr>
            </a:br>
            <a:r>
              <a:rPr lang="en-US" sz="1200" dirty="0">
                <a:solidFill>
                  <a:srgbClr val="6AA94F"/>
                </a:solidFill>
                <a:latin typeface="Courier New" panose="02070309020205020404" pitchFamily="49" charset="0"/>
              </a:rPr>
              <a:t># Data to plot</a:t>
            </a:r>
            <a:endParaRPr lang="en-US" sz="1200" dirty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dirty="0">
                <a:solidFill>
                  <a:srgbClr val="D4D4D4"/>
                </a:solidFill>
                <a:latin typeface="Courier New" panose="02070309020205020404" pitchFamily="49" charset="0"/>
              </a:rPr>
              <a:t>labels = </a:t>
            </a:r>
            <a:r>
              <a:rPr lang="en-US" sz="1200" dirty="0">
                <a:solidFill>
                  <a:srgbClr val="DCDCDC"/>
                </a:solidFill>
                <a:latin typeface="Courier New" panose="02070309020205020404" pitchFamily="49" charset="0"/>
              </a:rPr>
              <a:t>[</a:t>
            </a:r>
            <a:r>
              <a:rPr lang="en-US" sz="1200" dirty="0">
                <a:solidFill>
                  <a:srgbClr val="CE9178"/>
                </a:solidFill>
                <a:latin typeface="Courier New" panose="02070309020205020404" pitchFamily="49" charset="0"/>
              </a:rPr>
              <a:t>'A'</a:t>
            </a:r>
            <a:r>
              <a:rPr lang="en-US" sz="1200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en-US" sz="1200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CE9178"/>
                </a:solidFill>
                <a:latin typeface="Courier New" panose="02070309020205020404" pitchFamily="49" charset="0"/>
              </a:rPr>
              <a:t>'B'</a:t>
            </a:r>
            <a:r>
              <a:rPr lang="en-US" sz="1200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en-US" sz="1200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CE9178"/>
                </a:solidFill>
                <a:latin typeface="Courier New" panose="02070309020205020404" pitchFamily="49" charset="0"/>
              </a:rPr>
              <a:t>'C'</a:t>
            </a:r>
            <a:r>
              <a:rPr lang="en-US" sz="1200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en-US" sz="1200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CE9178"/>
                </a:solidFill>
                <a:latin typeface="Courier New" panose="02070309020205020404" pitchFamily="49" charset="0"/>
              </a:rPr>
              <a:t>'D'</a:t>
            </a:r>
            <a:r>
              <a:rPr lang="en-US" sz="1200" dirty="0">
                <a:solidFill>
                  <a:srgbClr val="DCDCDC"/>
                </a:solidFill>
                <a:latin typeface="Courier New" panose="02070309020205020404" pitchFamily="49" charset="0"/>
              </a:rPr>
              <a:t>]</a:t>
            </a:r>
            <a:endParaRPr lang="en-US" sz="1200" dirty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dirty="0">
                <a:solidFill>
                  <a:srgbClr val="D4D4D4"/>
                </a:solidFill>
                <a:latin typeface="Courier New" panose="02070309020205020404" pitchFamily="49" charset="0"/>
              </a:rPr>
              <a:t>sizes = </a:t>
            </a:r>
            <a:r>
              <a:rPr lang="en-US" sz="1200" dirty="0">
                <a:solidFill>
                  <a:srgbClr val="DCDCDC"/>
                </a:solidFill>
                <a:latin typeface="Courier New" panose="02070309020205020404" pitchFamily="49" charset="0"/>
              </a:rPr>
              <a:t>[</a:t>
            </a:r>
            <a:r>
              <a:rPr lang="en-US" sz="1200" dirty="0">
                <a:solidFill>
                  <a:srgbClr val="B5CEA8"/>
                </a:solidFill>
                <a:latin typeface="Courier New" panose="02070309020205020404" pitchFamily="49" charset="0"/>
              </a:rPr>
              <a:t>30</a:t>
            </a:r>
            <a:r>
              <a:rPr lang="en-US" sz="1200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en-US" sz="1200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B5CEA8"/>
                </a:solidFill>
                <a:latin typeface="Courier New" panose="02070309020205020404" pitchFamily="49" charset="0"/>
              </a:rPr>
              <a:t>25</a:t>
            </a:r>
            <a:r>
              <a:rPr lang="en-US" sz="1200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en-US" sz="1200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B5CEA8"/>
                </a:solidFill>
                <a:latin typeface="Courier New" panose="02070309020205020404" pitchFamily="49" charset="0"/>
              </a:rPr>
              <a:t>35</a:t>
            </a:r>
            <a:r>
              <a:rPr lang="en-US" sz="1200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en-US" sz="1200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B5CEA8"/>
                </a:solidFill>
                <a:latin typeface="Courier New" panose="02070309020205020404" pitchFamily="49" charset="0"/>
              </a:rPr>
              <a:t>10</a:t>
            </a:r>
            <a:r>
              <a:rPr lang="en-US" sz="1200" dirty="0">
                <a:solidFill>
                  <a:srgbClr val="DCDCDC"/>
                </a:solidFill>
                <a:latin typeface="Courier New" panose="02070309020205020404" pitchFamily="49" charset="0"/>
              </a:rPr>
              <a:t>]</a:t>
            </a:r>
            <a:r>
              <a:rPr lang="en-US" sz="1200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6AA94F"/>
                </a:solidFill>
                <a:latin typeface="Courier New" panose="02070309020205020404" pitchFamily="49" charset="0"/>
              </a:rPr>
              <a:t># Percentage values</a:t>
            </a:r>
            <a:endParaRPr lang="en-US" sz="1200" dirty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200" dirty="0">
                <a:solidFill>
                  <a:srgbClr val="D4D4D4"/>
                </a:solidFill>
                <a:latin typeface="Courier New" panose="02070309020205020404" pitchFamily="49" charset="0"/>
              </a:rPr>
            </a:br>
            <a:r>
              <a:rPr lang="en-US" sz="1200" dirty="0">
                <a:solidFill>
                  <a:srgbClr val="6AA94F"/>
                </a:solidFill>
                <a:latin typeface="Courier New" panose="02070309020205020404" pitchFamily="49" charset="0"/>
              </a:rPr>
              <a:t># Create Pie Chart</a:t>
            </a:r>
            <a:endParaRPr lang="en-US" sz="1200" dirty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dirty="0" err="1">
                <a:solidFill>
                  <a:srgbClr val="D4D4D4"/>
                </a:solidFill>
                <a:latin typeface="Courier New" panose="02070309020205020404" pitchFamily="49" charset="0"/>
              </a:rPr>
              <a:t>plt.pie</a:t>
            </a:r>
            <a:r>
              <a:rPr lang="en-US" sz="1200" dirty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en-US" sz="1200" dirty="0">
                <a:solidFill>
                  <a:srgbClr val="D4D4D4"/>
                </a:solidFill>
                <a:latin typeface="Courier New" panose="02070309020205020404" pitchFamily="49" charset="0"/>
              </a:rPr>
              <a:t>sizes</a:t>
            </a:r>
            <a:r>
              <a:rPr lang="en-US" sz="1200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en-US" sz="1200" dirty="0">
                <a:solidFill>
                  <a:srgbClr val="D4D4D4"/>
                </a:solidFill>
                <a:latin typeface="Courier New" panose="02070309020205020404" pitchFamily="49" charset="0"/>
              </a:rPr>
              <a:t> labels=labels</a:t>
            </a:r>
            <a:r>
              <a:rPr lang="en-US" sz="1200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en-US" sz="1200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D4D4D4"/>
                </a:solidFill>
                <a:latin typeface="Courier New" panose="02070309020205020404" pitchFamily="49" charset="0"/>
              </a:rPr>
              <a:t>autopct</a:t>
            </a:r>
            <a:r>
              <a:rPr lang="en-US" sz="1200" dirty="0">
                <a:solidFill>
                  <a:srgbClr val="D4D4D4"/>
                </a:solidFill>
                <a:latin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CE9178"/>
                </a:solidFill>
                <a:latin typeface="Courier New" panose="02070309020205020404" pitchFamily="49" charset="0"/>
              </a:rPr>
              <a:t>'%1.1f%%'</a:t>
            </a:r>
            <a:r>
              <a:rPr lang="en-US" sz="1200" dirty="0">
                <a:solidFill>
                  <a:srgbClr val="DCDCDC"/>
                </a:solidFill>
                <a:latin typeface="Courier New" panose="02070309020205020404" pitchFamily="49" charset="0"/>
              </a:rPr>
              <a:t>,)</a:t>
            </a:r>
            <a:endParaRPr lang="en-US" sz="1200" dirty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200" dirty="0">
                <a:solidFill>
                  <a:srgbClr val="D4D4D4"/>
                </a:solidFill>
                <a:latin typeface="Courier New" panose="02070309020205020404" pitchFamily="49" charset="0"/>
              </a:rPr>
            </a:br>
            <a:r>
              <a:rPr lang="en-US" sz="1200" dirty="0" err="1">
                <a:solidFill>
                  <a:srgbClr val="D4D4D4"/>
                </a:solidFill>
                <a:latin typeface="Courier New" panose="02070309020205020404" pitchFamily="49" charset="0"/>
              </a:rPr>
              <a:t>plt.title</a:t>
            </a:r>
            <a:r>
              <a:rPr lang="en-US" sz="1200" dirty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en-US" sz="1200" dirty="0">
                <a:solidFill>
                  <a:srgbClr val="CE9178"/>
                </a:solidFill>
                <a:latin typeface="Courier New" panose="02070309020205020404" pitchFamily="49" charset="0"/>
              </a:rPr>
              <a:t>"Sample Pie Chart"</a:t>
            </a:r>
            <a:r>
              <a:rPr lang="en-US" sz="1200" dirty="0">
                <a:solidFill>
                  <a:srgbClr val="DCDCDC"/>
                </a:solidFill>
                <a:latin typeface="Courier New" panose="02070309020205020404" pitchFamily="49" charset="0"/>
              </a:rPr>
              <a:t>)</a:t>
            </a:r>
            <a:endParaRPr lang="en-US" sz="1200" dirty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dirty="0" err="1">
                <a:solidFill>
                  <a:srgbClr val="D4D4D4"/>
                </a:solidFill>
                <a:latin typeface="Courier New" panose="02070309020205020404" pitchFamily="49" charset="0"/>
              </a:rPr>
              <a:t>plt.show</a:t>
            </a:r>
            <a:r>
              <a:rPr lang="en-US" sz="1200" dirty="0">
                <a:solidFill>
                  <a:srgbClr val="DCDCDC"/>
                </a:solidFill>
                <a:latin typeface="Courier New" panose="02070309020205020404" pitchFamily="49" charset="0"/>
              </a:rPr>
              <a:t>()</a:t>
            </a:r>
            <a:endParaRPr lang="en-US" sz="1200" dirty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200" dirty="0">
                <a:solidFill>
                  <a:srgbClr val="D4D4D4"/>
                </a:solidFill>
                <a:latin typeface="Courier New" panose="02070309020205020404" pitchFamily="49" charset="0"/>
              </a:rPr>
            </a:br>
            <a:endParaRPr lang="en-US" sz="1200" dirty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br>
              <a:rPr lang="en-US" sz="1200" dirty="0"/>
            </a:br>
            <a:endParaRPr lang="en-US" sz="1200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E99378-F6F6-B0EC-55D6-3D74AC550074}"/>
              </a:ext>
            </a:extLst>
          </p:cNvPr>
          <p:cNvSpPr txBox="1"/>
          <p:nvPr/>
        </p:nvSpPr>
        <p:spPr>
          <a:xfrm>
            <a:off x="862191" y="707679"/>
            <a:ext cx="72235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2000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Pie Plot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9F8229D-59BF-21A8-FAE2-BC16D35C6DEF}"/>
              </a:ext>
            </a:extLst>
          </p:cNvPr>
          <p:cNvGrpSpPr/>
          <p:nvPr/>
        </p:nvGrpSpPr>
        <p:grpSpPr>
          <a:xfrm>
            <a:off x="2735017" y="1126008"/>
            <a:ext cx="3576332" cy="3803801"/>
            <a:chOff x="5041900" y="486879"/>
            <a:chExt cx="3632200" cy="4301021"/>
          </a:xfrm>
        </p:grpSpPr>
        <p:pic>
          <p:nvPicPr>
            <p:cNvPr id="4" name="Picture 2" descr="Windows 9x/NT Blank Window Template by user12720127301998 on DeviantArt">
              <a:extLst>
                <a:ext uri="{FF2B5EF4-FFF2-40B4-BE49-F238E27FC236}">
                  <a16:creationId xmlns:a16="http://schemas.microsoft.com/office/drawing/2014/main" id="{FFE05298-B86F-5960-19A1-EF7A4B026C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1900" y="486879"/>
              <a:ext cx="3632200" cy="43010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9575F7C8-512B-D287-2BA4-E43CCE7A14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/>
          </p:blipFill>
          <p:spPr bwMode="auto">
            <a:xfrm>
              <a:off x="5183704" y="972810"/>
              <a:ext cx="3348591" cy="36463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96355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3" grpId="2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CCEBAD0F-83D2-6242-86DA-63BB806B4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7">
            <a:extLst>
              <a:ext uri="{FF2B5EF4-FFF2-40B4-BE49-F238E27FC236}">
                <a16:creationId xmlns:a16="http://schemas.microsoft.com/office/drawing/2014/main" id="{7E53154F-3AFE-15B4-B117-86BD7CCE7D1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Matplotlib 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4A156B5C-9C83-413D-755D-A3020C9FEEB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c</a:t>
            </a:r>
            <a:r>
              <a:rPr lang="en" sz="1400" dirty="0">
                <a:solidFill>
                  <a:schemeClr val="accent3"/>
                </a:solidFill>
              </a:rPr>
              <a:t>ode.py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66" name="Google Shape;466;p27">
            <a:extLst>
              <a:ext uri="{FF2B5EF4-FFF2-40B4-BE49-F238E27FC236}">
                <a16:creationId xmlns:a16="http://schemas.microsoft.com/office/drawing/2014/main" id="{7F3E4BEA-1C5A-5693-6B71-5204FA23D21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content.ppt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04ACCF-3D09-FE10-B9D8-A729B9743235}"/>
              </a:ext>
            </a:extLst>
          </p:cNvPr>
          <p:cNvSpPr txBox="1"/>
          <p:nvPr/>
        </p:nvSpPr>
        <p:spPr>
          <a:xfrm>
            <a:off x="1345915" y="524332"/>
            <a:ext cx="458227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Boxplot - Visualizing Distribution of values</a:t>
            </a:r>
          </a:p>
          <a:p>
            <a:br>
              <a:rPr lang="en-US" sz="2000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endParaRPr lang="en-US" sz="2000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659871-1225-82A8-F745-63635427A6A6}"/>
              </a:ext>
            </a:extLst>
          </p:cNvPr>
          <p:cNvSpPr txBox="1"/>
          <p:nvPr/>
        </p:nvSpPr>
        <p:spPr>
          <a:xfrm>
            <a:off x="1345915" y="1317442"/>
            <a:ext cx="4582274" cy="3162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rgbClr val="C586C0"/>
                </a:solidFill>
                <a:latin typeface="Courier New" panose="02070309020205020404" pitchFamily="49" charset="0"/>
              </a:rPr>
              <a:t>import</a:t>
            </a:r>
            <a:r>
              <a:rPr lang="en-US" sz="1050" dirty="0">
                <a:solidFill>
                  <a:srgbClr val="D4D4D4"/>
                </a:solidFill>
                <a:latin typeface="Courier New" panose="02070309020205020404" pitchFamily="49" charset="0"/>
              </a:rPr>
              <a:t> matplotlib.pyplot </a:t>
            </a:r>
            <a:r>
              <a:rPr lang="en-US" sz="1050" dirty="0">
                <a:solidFill>
                  <a:srgbClr val="C586C0"/>
                </a:solidFill>
                <a:latin typeface="Courier New" panose="02070309020205020404" pitchFamily="49" charset="0"/>
              </a:rPr>
              <a:t>as</a:t>
            </a:r>
            <a:r>
              <a:rPr lang="en-US" sz="1050" dirty="0">
                <a:solidFill>
                  <a:srgbClr val="D4D4D4"/>
                </a:solidFill>
                <a:latin typeface="Courier New" panose="02070309020205020404" pitchFamily="49" charset="0"/>
              </a:rPr>
              <a:t> plt</a:t>
            </a:r>
            <a:endParaRPr lang="en-US" sz="1050" dirty="0"/>
          </a:p>
          <a:p>
            <a:r>
              <a:rPr lang="en-US" sz="1050" dirty="0">
                <a:solidFill>
                  <a:srgbClr val="C586C0"/>
                </a:solidFill>
                <a:latin typeface="Courier New" panose="02070309020205020404" pitchFamily="49" charset="0"/>
              </a:rPr>
              <a:t>import</a:t>
            </a:r>
            <a:r>
              <a:rPr lang="en-US" sz="1050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sz="1050" dirty="0" err="1">
                <a:solidFill>
                  <a:srgbClr val="D4D4D4"/>
                </a:solidFill>
                <a:latin typeface="Courier New" panose="02070309020205020404" pitchFamily="49" charset="0"/>
              </a:rPr>
              <a:t>numpy</a:t>
            </a:r>
            <a:r>
              <a:rPr lang="en-US" sz="1050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sz="1050" dirty="0">
                <a:solidFill>
                  <a:srgbClr val="C586C0"/>
                </a:solidFill>
                <a:latin typeface="Courier New" panose="02070309020205020404" pitchFamily="49" charset="0"/>
              </a:rPr>
              <a:t>as</a:t>
            </a:r>
            <a:r>
              <a:rPr lang="en-US" sz="1050" dirty="0">
                <a:solidFill>
                  <a:srgbClr val="D4D4D4"/>
                </a:solidFill>
                <a:latin typeface="Courier New" panose="02070309020205020404" pitchFamily="49" charset="0"/>
              </a:rPr>
              <a:t> np</a:t>
            </a:r>
            <a:endParaRPr lang="en-US" sz="1050" dirty="0"/>
          </a:p>
          <a:p>
            <a:br>
              <a:rPr lang="en-US" sz="1050" dirty="0"/>
            </a:br>
            <a:r>
              <a:rPr lang="en-US" sz="1050" dirty="0">
                <a:solidFill>
                  <a:srgbClr val="6AA94F"/>
                </a:solidFill>
                <a:latin typeface="Courier New" panose="02070309020205020404" pitchFamily="49" charset="0"/>
              </a:rPr>
              <a:t># Generate some sample data</a:t>
            </a:r>
            <a:endParaRPr lang="en-US" sz="1050" dirty="0"/>
          </a:p>
          <a:p>
            <a:r>
              <a:rPr lang="en-US" sz="1050" dirty="0">
                <a:solidFill>
                  <a:srgbClr val="D4D4D4"/>
                </a:solidFill>
                <a:latin typeface="Courier New" panose="02070309020205020404" pitchFamily="49" charset="0"/>
              </a:rPr>
              <a:t>data = np.random.normal</a:t>
            </a:r>
            <a:r>
              <a:rPr lang="en-US" sz="1050" dirty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en-US" sz="1050" dirty="0">
                <a:solidFill>
                  <a:srgbClr val="B5CEA8"/>
                </a:solidFill>
                <a:latin typeface="Courier New" panose="02070309020205020404" pitchFamily="49" charset="0"/>
              </a:rPr>
              <a:t>0</a:t>
            </a:r>
            <a:r>
              <a:rPr lang="en-US" sz="1050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en-US" sz="1050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anose="02070309020205020404" pitchFamily="49" charset="0"/>
              </a:rPr>
              <a:t>1</a:t>
            </a:r>
            <a:r>
              <a:rPr lang="en-US" sz="1050" dirty="0">
                <a:solidFill>
                  <a:srgbClr val="DCDCDC"/>
                </a:solidFill>
                <a:latin typeface="Courier New" panose="02070309020205020404" pitchFamily="49" charset="0"/>
              </a:rPr>
              <a:t>,</a:t>
            </a:r>
            <a:r>
              <a:rPr lang="en-US" sz="1050" dirty="0">
                <a:solidFill>
                  <a:srgbClr val="D4D4D4"/>
                </a:solidFill>
                <a:latin typeface="Courier New" panose="02070309020205020404" pitchFamily="49" charset="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anose="02070309020205020404" pitchFamily="49" charset="0"/>
              </a:rPr>
              <a:t>100</a:t>
            </a:r>
            <a:r>
              <a:rPr lang="en-US" sz="1050" dirty="0">
                <a:solidFill>
                  <a:srgbClr val="DCDCDC"/>
                </a:solidFill>
                <a:latin typeface="Courier New" panose="02070309020205020404" pitchFamily="49" charset="0"/>
              </a:rPr>
              <a:t>)</a:t>
            </a:r>
            <a:r>
              <a:rPr lang="en-US" sz="1050" dirty="0">
                <a:solidFill>
                  <a:srgbClr val="D4D4D4"/>
                </a:solidFill>
                <a:latin typeface="Courier New" panose="02070309020205020404" pitchFamily="49" charset="0"/>
              </a:rPr>
              <a:t>  </a:t>
            </a:r>
            <a:r>
              <a:rPr lang="en-US" sz="1050" dirty="0">
                <a:solidFill>
                  <a:srgbClr val="6AA94F"/>
                </a:solidFill>
                <a:latin typeface="Courier New" panose="02070309020205020404" pitchFamily="49" charset="0"/>
              </a:rPr>
              <a:t># Normal distribution with mean 0 and std deviation 1</a:t>
            </a:r>
            <a:endParaRPr lang="en-US" sz="1050" dirty="0"/>
          </a:p>
          <a:p>
            <a:br>
              <a:rPr lang="en-US" sz="1050" dirty="0"/>
            </a:br>
            <a:r>
              <a:rPr lang="en-US" sz="1050" dirty="0">
                <a:solidFill>
                  <a:srgbClr val="6AA94F"/>
                </a:solidFill>
                <a:latin typeface="Courier New" panose="02070309020205020404" pitchFamily="49" charset="0"/>
              </a:rPr>
              <a:t># Create a boxplot</a:t>
            </a:r>
            <a:endParaRPr lang="en-US" sz="1050" dirty="0"/>
          </a:p>
          <a:p>
            <a:r>
              <a:rPr lang="en-US" sz="1050" dirty="0" err="1">
                <a:solidFill>
                  <a:srgbClr val="D4D4D4"/>
                </a:solidFill>
                <a:latin typeface="Courier New" panose="02070309020205020404" pitchFamily="49" charset="0"/>
              </a:rPr>
              <a:t>plt.boxplot</a:t>
            </a:r>
            <a:r>
              <a:rPr lang="en-US" sz="1050" dirty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en-US" sz="1050" dirty="0">
                <a:solidFill>
                  <a:srgbClr val="D4D4D4"/>
                </a:solidFill>
                <a:latin typeface="Courier New" panose="02070309020205020404" pitchFamily="49" charset="0"/>
              </a:rPr>
              <a:t>data</a:t>
            </a:r>
            <a:r>
              <a:rPr lang="en-US" sz="1050" dirty="0">
                <a:solidFill>
                  <a:srgbClr val="DCDCDC"/>
                </a:solidFill>
                <a:latin typeface="Courier New" panose="02070309020205020404" pitchFamily="49" charset="0"/>
              </a:rPr>
              <a:t>)</a:t>
            </a:r>
            <a:endParaRPr lang="en-US" sz="1050" dirty="0"/>
          </a:p>
          <a:p>
            <a:br>
              <a:rPr lang="en-US" sz="1050" dirty="0"/>
            </a:br>
            <a:r>
              <a:rPr lang="en-US" sz="1050" dirty="0">
                <a:solidFill>
                  <a:srgbClr val="6AA94F"/>
                </a:solidFill>
                <a:latin typeface="Courier New" panose="02070309020205020404" pitchFamily="49" charset="0"/>
              </a:rPr>
              <a:t># Add labels and title</a:t>
            </a:r>
            <a:endParaRPr lang="en-US" sz="1050" dirty="0"/>
          </a:p>
          <a:p>
            <a:r>
              <a:rPr lang="en-US" sz="1050" dirty="0" err="1">
                <a:solidFill>
                  <a:srgbClr val="D4D4D4"/>
                </a:solidFill>
                <a:latin typeface="Courier New" panose="02070309020205020404" pitchFamily="49" charset="0"/>
              </a:rPr>
              <a:t>plt.xlabel</a:t>
            </a:r>
            <a:r>
              <a:rPr lang="en-US" sz="1050" dirty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en-US" sz="1050" dirty="0">
                <a:solidFill>
                  <a:srgbClr val="CE9178"/>
                </a:solidFill>
                <a:latin typeface="Courier New" panose="02070309020205020404" pitchFamily="49" charset="0"/>
              </a:rPr>
              <a:t>'Group'</a:t>
            </a:r>
            <a:r>
              <a:rPr lang="en-US" sz="1050" dirty="0">
                <a:solidFill>
                  <a:srgbClr val="DCDCDC"/>
                </a:solidFill>
                <a:latin typeface="Courier New" panose="02070309020205020404" pitchFamily="49" charset="0"/>
              </a:rPr>
              <a:t>)</a:t>
            </a:r>
            <a:endParaRPr lang="en-US" sz="1050" dirty="0"/>
          </a:p>
          <a:p>
            <a:r>
              <a:rPr lang="en-US" sz="1050" dirty="0" err="1">
                <a:solidFill>
                  <a:srgbClr val="D4D4D4"/>
                </a:solidFill>
                <a:latin typeface="Courier New" panose="02070309020205020404" pitchFamily="49" charset="0"/>
              </a:rPr>
              <a:t>plt.ylabel</a:t>
            </a:r>
            <a:r>
              <a:rPr lang="en-US" sz="1050" dirty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en-US" sz="1050" dirty="0">
                <a:solidFill>
                  <a:srgbClr val="CE9178"/>
                </a:solidFill>
                <a:latin typeface="Courier New" panose="02070309020205020404" pitchFamily="49" charset="0"/>
              </a:rPr>
              <a:t>'Value'</a:t>
            </a:r>
            <a:r>
              <a:rPr lang="en-US" sz="1050" dirty="0">
                <a:solidFill>
                  <a:srgbClr val="DCDCDC"/>
                </a:solidFill>
                <a:latin typeface="Courier New" panose="02070309020205020404" pitchFamily="49" charset="0"/>
              </a:rPr>
              <a:t>)</a:t>
            </a:r>
            <a:endParaRPr lang="en-US" sz="1050" dirty="0"/>
          </a:p>
          <a:p>
            <a:r>
              <a:rPr lang="en-US" sz="1050" dirty="0" err="1">
                <a:solidFill>
                  <a:srgbClr val="D4D4D4"/>
                </a:solidFill>
                <a:latin typeface="Courier New" panose="02070309020205020404" pitchFamily="49" charset="0"/>
              </a:rPr>
              <a:t>plt.title</a:t>
            </a:r>
            <a:r>
              <a:rPr lang="en-US" sz="1050" dirty="0">
                <a:solidFill>
                  <a:srgbClr val="DCDCDC"/>
                </a:solidFill>
                <a:latin typeface="Courier New" panose="02070309020205020404" pitchFamily="49" charset="0"/>
              </a:rPr>
              <a:t>(</a:t>
            </a:r>
            <a:r>
              <a:rPr lang="en-US" sz="1050" dirty="0">
                <a:solidFill>
                  <a:srgbClr val="CE9178"/>
                </a:solidFill>
                <a:latin typeface="Courier New" panose="02070309020205020404" pitchFamily="49" charset="0"/>
              </a:rPr>
              <a:t>'Boxplot Example'</a:t>
            </a:r>
            <a:r>
              <a:rPr lang="en-US" sz="1050" dirty="0">
                <a:solidFill>
                  <a:srgbClr val="DCDCDC"/>
                </a:solidFill>
                <a:latin typeface="Courier New" panose="02070309020205020404" pitchFamily="49" charset="0"/>
              </a:rPr>
              <a:t>)</a:t>
            </a:r>
            <a:endParaRPr lang="en-US" sz="1050" dirty="0"/>
          </a:p>
          <a:p>
            <a:br>
              <a:rPr lang="en-US" sz="1050" dirty="0"/>
            </a:br>
            <a:r>
              <a:rPr lang="en-US" sz="1050" dirty="0">
                <a:solidFill>
                  <a:srgbClr val="6AA94F"/>
                </a:solidFill>
                <a:latin typeface="Courier New" panose="02070309020205020404" pitchFamily="49" charset="0"/>
              </a:rPr>
              <a:t># Display the plot</a:t>
            </a:r>
            <a:endParaRPr lang="en-US" sz="1050" dirty="0"/>
          </a:p>
          <a:p>
            <a:r>
              <a:rPr lang="en-US" sz="1050" dirty="0" err="1">
                <a:solidFill>
                  <a:srgbClr val="D4D4D4"/>
                </a:solidFill>
                <a:latin typeface="Courier New" panose="02070309020205020404" pitchFamily="49" charset="0"/>
              </a:rPr>
              <a:t>plt.show</a:t>
            </a:r>
            <a:r>
              <a:rPr lang="en-US" sz="1050" dirty="0">
                <a:solidFill>
                  <a:srgbClr val="DCDCDC"/>
                </a:solidFill>
                <a:latin typeface="Courier New" panose="02070309020205020404" pitchFamily="49" charset="0"/>
              </a:rPr>
              <a:t>()</a:t>
            </a:r>
            <a:endParaRPr lang="en-US" sz="1050" dirty="0"/>
          </a:p>
          <a:p>
            <a:br>
              <a:rPr lang="en-US" sz="1050" dirty="0"/>
            </a:br>
            <a:endParaRPr lang="en-US" sz="1050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368403D-4DA5-10B1-F5DE-2626D1D4E84B}"/>
              </a:ext>
            </a:extLst>
          </p:cNvPr>
          <p:cNvGrpSpPr/>
          <p:nvPr/>
        </p:nvGrpSpPr>
        <p:grpSpPr>
          <a:xfrm>
            <a:off x="5054600" y="663654"/>
            <a:ext cx="3606800" cy="4132289"/>
            <a:chOff x="5041900" y="486879"/>
            <a:chExt cx="3632200" cy="4301021"/>
          </a:xfrm>
        </p:grpSpPr>
        <p:pic>
          <p:nvPicPr>
            <p:cNvPr id="15362" name="Picture 2" descr="Windows 9x/NT Blank Window Template by user12720127301998 on DeviantArt">
              <a:extLst>
                <a:ext uri="{FF2B5EF4-FFF2-40B4-BE49-F238E27FC236}">
                  <a16:creationId xmlns:a16="http://schemas.microsoft.com/office/drawing/2014/main" id="{8EB9D62E-F6CE-EE48-86F1-11457C8682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1900" y="486879"/>
              <a:ext cx="3632200" cy="43010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434" name="Picture 2">
              <a:extLst>
                <a:ext uri="{FF2B5EF4-FFF2-40B4-BE49-F238E27FC236}">
                  <a16:creationId xmlns:a16="http://schemas.microsoft.com/office/drawing/2014/main" id="{EA66C1B4-212D-1CD8-96BD-0EA8273D56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0512" y="972810"/>
              <a:ext cx="3434975" cy="36463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459601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>
          <a:extLst>
            <a:ext uri="{FF2B5EF4-FFF2-40B4-BE49-F238E27FC236}">
              <a16:creationId xmlns:a16="http://schemas.microsoft.com/office/drawing/2014/main" id="{C9285E87-5A62-B04F-9CBF-5FDAFC717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7">
            <a:extLst>
              <a:ext uri="{FF2B5EF4-FFF2-40B4-BE49-F238E27FC236}">
                <a16:creationId xmlns:a16="http://schemas.microsoft.com/office/drawing/2014/main" id="{0D3E44CF-E2E6-95DA-ED0F-353ECFB7664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Matplotlib 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65" name="Google Shape;465;p27">
            <a:extLst>
              <a:ext uri="{FF2B5EF4-FFF2-40B4-BE49-F238E27FC236}">
                <a16:creationId xmlns:a16="http://schemas.microsoft.com/office/drawing/2014/main" id="{8499F21B-76D0-89E7-ADCA-5D16CDCAA27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c</a:t>
            </a:r>
            <a:r>
              <a:rPr lang="en" sz="1400" dirty="0">
                <a:solidFill>
                  <a:schemeClr val="accent3"/>
                </a:solidFill>
              </a:rPr>
              <a:t>ode.py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66" name="Google Shape;466;p27">
            <a:extLst>
              <a:ext uri="{FF2B5EF4-FFF2-40B4-BE49-F238E27FC236}">
                <a16:creationId xmlns:a16="http://schemas.microsoft.com/office/drawing/2014/main" id="{D53F6BC8-632E-2157-7422-C4AC861AC6D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content.ppt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0BAF35-DB66-C0F4-213F-783A0CE3779D}"/>
              </a:ext>
            </a:extLst>
          </p:cNvPr>
          <p:cNvSpPr txBox="1"/>
          <p:nvPr/>
        </p:nvSpPr>
        <p:spPr>
          <a:xfrm>
            <a:off x="1221320" y="1203960"/>
            <a:ext cx="779205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sz="1000" b="0" i="0" u="none" strike="noStrike" dirty="0">
                <a:solidFill>
                  <a:srgbClr val="6AA94F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 Simulating Population Growth Data for 3 age groups over 20 years</a:t>
            </a:r>
            <a:endParaRPr lang="en-US" sz="10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0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years = np.arange</a:t>
            </a:r>
            <a:r>
              <a:rPr lang="en-US" sz="10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0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2000</a:t>
            </a:r>
            <a:r>
              <a:rPr lang="en-US" sz="10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0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0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2021</a:t>
            </a:r>
            <a:r>
              <a:rPr lang="en-US" sz="10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0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0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dtype</a:t>
            </a:r>
            <a:r>
              <a:rPr lang="en-US" sz="10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=</a:t>
            </a:r>
            <a:r>
              <a:rPr lang="en-US" sz="1000" b="0" i="0" u="none" strike="noStrike" dirty="0">
                <a:solidFill>
                  <a:srgbClr val="4EC9B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</a:t>
            </a:r>
            <a:r>
              <a:rPr lang="en-US" sz="10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r>
              <a:rPr lang="en-US" sz="10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  </a:t>
            </a:r>
            <a:r>
              <a:rPr lang="en-US" sz="1000" b="0" i="0" u="none" strike="noStrike" dirty="0">
                <a:solidFill>
                  <a:srgbClr val="6AA94F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 Years from 2000 to 2020</a:t>
            </a:r>
            <a:endParaRPr lang="en-US" sz="10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br>
              <a:rPr lang="en-US" sz="1000" b="0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r>
              <a:rPr lang="en-US" sz="1000" b="0" i="0" u="none" strike="noStrike" dirty="0">
                <a:solidFill>
                  <a:srgbClr val="6AA94F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 Simulated population data for each age group (in millions)</a:t>
            </a:r>
            <a:endParaRPr lang="en-US" sz="10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0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children = </a:t>
            </a:r>
            <a:r>
              <a:rPr lang="en-US" sz="10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np.array</a:t>
            </a:r>
            <a:r>
              <a:rPr lang="en-US" sz="10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([</a:t>
            </a:r>
            <a:r>
              <a:rPr lang="en-US" sz="10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50</a:t>
            </a:r>
            <a:r>
              <a:rPr lang="en-US" sz="10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0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0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52</a:t>
            </a:r>
            <a:r>
              <a:rPr lang="en-US" sz="10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0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…</a:t>
            </a:r>
            <a:r>
              <a:rPr lang="en-US" sz="10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])</a:t>
            </a:r>
            <a:r>
              <a:rPr lang="en-US" sz="10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  </a:t>
            </a:r>
            <a:r>
              <a:rPr lang="en-US" sz="1000" b="0" i="0" u="none" strike="noStrike" dirty="0">
                <a:solidFill>
                  <a:srgbClr val="6AA94F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 Children</a:t>
            </a:r>
            <a:endParaRPr lang="en-US" sz="10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0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adults = </a:t>
            </a:r>
            <a:r>
              <a:rPr lang="en-US" sz="10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np.array</a:t>
            </a:r>
            <a:r>
              <a:rPr lang="en-US" sz="10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([</a:t>
            </a:r>
            <a:r>
              <a:rPr lang="en-US" sz="10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120</a:t>
            </a:r>
            <a:r>
              <a:rPr lang="en-US" sz="10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0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0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122</a:t>
            </a:r>
            <a:r>
              <a:rPr lang="en-US" sz="10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000" dirty="0">
                <a:solidFill>
                  <a:srgbClr val="D4D4D4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…</a:t>
            </a:r>
            <a:r>
              <a:rPr lang="en-US" sz="10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])</a:t>
            </a:r>
            <a:r>
              <a:rPr lang="en-US" sz="10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  </a:t>
            </a:r>
            <a:r>
              <a:rPr lang="en-US" sz="1000" b="0" i="0" u="none" strike="noStrike" dirty="0">
                <a:solidFill>
                  <a:srgbClr val="6AA94F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 Adults</a:t>
            </a:r>
            <a:endParaRPr lang="en-US" sz="10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0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elderly = </a:t>
            </a:r>
            <a:r>
              <a:rPr lang="en-US" sz="10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np.array</a:t>
            </a:r>
            <a:r>
              <a:rPr lang="en-US" sz="10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([</a:t>
            </a:r>
            <a:r>
              <a:rPr lang="en-US" sz="10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30</a:t>
            </a:r>
            <a:r>
              <a:rPr lang="en-US" sz="10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0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000" b="0" i="0" u="none" strike="noStrike" dirty="0">
                <a:solidFill>
                  <a:srgbClr val="B5CEA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32</a:t>
            </a:r>
            <a:r>
              <a:rPr lang="en-US" sz="10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0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…</a:t>
            </a:r>
            <a:r>
              <a:rPr lang="en-US" sz="10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])</a:t>
            </a:r>
            <a:r>
              <a:rPr lang="en-US" sz="10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  </a:t>
            </a:r>
            <a:r>
              <a:rPr lang="en-US" sz="1000" b="0" i="0" u="none" strike="noStrike" dirty="0">
                <a:solidFill>
                  <a:srgbClr val="6AA94F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 Elderly</a:t>
            </a:r>
            <a:endParaRPr lang="en-US" sz="10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br>
              <a:rPr lang="en-US" sz="1000" b="0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r>
              <a:rPr lang="en-US" sz="1000" b="0" i="0" u="none" strike="noStrike" dirty="0">
                <a:solidFill>
                  <a:srgbClr val="6AA94F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 Create the stack plot</a:t>
            </a:r>
            <a:endParaRPr lang="en-US" sz="10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0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plt.stackplot</a:t>
            </a:r>
            <a:r>
              <a:rPr lang="en-US" sz="10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0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years</a:t>
            </a:r>
            <a:r>
              <a:rPr lang="en-US" sz="10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0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children</a:t>
            </a:r>
            <a:r>
              <a:rPr lang="en-US" sz="10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0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adults</a:t>
            </a:r>
            <a:r>
              <a:rPr lang="en-US" sz="10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0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elderly</a:t>
            </a:r>
            <a:r>
              <a:rPr lang="en-US" sz="10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0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labels=</a:t>
            </a:r>
            <a:r>
              <a:rPr lang="en-US" sz="10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[</a:t>
            </a:r>
            <a:r>
              <a:rPr lang="en-US" sz="100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'Children'</a:t>
            </a:r>
            <a:r>
              <a:rPr lang="en-US" sz="10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0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00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'Adults'</a:t>
            </a:r>
            <a:r>
              <a:rPr lang="en-US" sz="10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</a:t>
            </a:r>
            <a:r>
              <a:rPr lang="en-US" sz="1000" b="0" i="0" u="none" strike="noStrike" dirty="0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00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'Elderly'</a:t>
            </a:r>
            <a:r>
              <a:rPr lang="en-US" sz="10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])</a:t>
            </a:r>
            <a:endParaRPr lang="en-US" sz="10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br>
              <a:rPr lang="en-US" sz="1000" b="0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r>
              <a:rPr lang="en-US" sz="1000" b="0" i="0" u="none" strike="noStrike" dirty="0">
                <a:solidFill>
                  <a:srgbClr val="6AA94F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 Add labels and title</a:t>
            </a:r>
            <a:endParaRPr lang="en-US" sz="10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0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plt.xlabel</a:t>
            </a:r>
            <a:r>
              <a:rPr lang="en-US" sz="10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00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'Year'</a:t>
            </a:r>
            <a:r>
              <a:rPr lang="en-US" sz="10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endParaRPr lang="en-US" sz="10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0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plt.ylabel</a:t>
            </a:r>
            <a:r>
              <a:rPr lang="en-US" sz="10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00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'Population (in millions)'</a:t>
            </a:r>
            <a:r>
              <a:rPr lang="en-US" sz="10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endParaRPr lang="en-US" sz="10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0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plt.title</a:t>
            </a:r>
            <a:r>
              <a:rPr lang="en-US" sz="10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  <a:r>
              <a:rPr lang="en-US" sz="1000" b="0" i="0" u="none" strike="noStrike" dirty="0">
                <a:solidFill>
                  <a:srgbClr val="CE9178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'Population Growth by Age Group (2000-2019)'</a:t>
            </a:r>
            <a:r>
              <a:rPr lang="en-US" sz="10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br>
              <a:rPr lang="en-US" sz="1000" b="0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br>
              <a:rPr lang="en-US" sz="1000" b="0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r>
              <a:rPr lang="en-US" sz="1000" b="0" i="0" u="none" strike="noStrike" dirty="0">
                <a:solidFill>
                  <a:srgbClr val="6AA94F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 Display the plot</a:t>
            </a:r>
            <a:endParaRPr lang="en-US" sz="10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rtl="0"/>
            <a:r>
              <a:rPr lang="en-US" sz="1000" b="0" i="0" u="none" strike="noStrike" dirty="0" err="1">
                <a:solidFill>
                  <a:srgbClr val="D4D4D4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plt.show</a:t>
            </a:r>
            <a:r>
              <a:rPr lang="en-US" sz="1000" b="0" i="0" u="none" strike="noStrike" dirty="0">
                <a:solidFill>
                  <a:srgbClr val="DCDCDC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()</a:t>
            </a:r>
            <a:endParaRPr lang="en-US" sz="1000" b="0" dirty="0"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br>
              <a:rPr lang="en-US" sz="1000" b="0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br>
              <a:rPr lang="en-US" sz="1000" b="0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br>
              <a:rPr lang="en-US" sz="1000" b="0" dirty="0"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endParaRPr lang="en-US" sz="1000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DC0FBE-6845-05C1-B71D-2C3D39F82D43}"/>
              </a:ext>
            </a:extLst>
          </p:cNvPr>
          <p:cNvSpPr txBox="1"/>
          <p:nvPr/>
        </p:nvSpPr>
        <p:spPr>
          <a:xfrm>
            <a:off x="1221320" y="696128"/>
            <a:ext cx="45783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2000" b="0" i="0" u="none" strike="noStrike" dirty="0" err="1">
                <a:solidFill>
                  <a:schemeClr val="bg1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Stackplot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- Groups Over Time</a:t>
            </a:r>
            <a:endParaRPr lang="en-US" sz="2000" b="0" dirty="0">
              <a:solidFill>
                <a:schemeClr val="bg1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br>
              <a:rPr lang="en-US" sz="2000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endParaRPr lang="en-US" sz="2000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74ACA71-4A0F-CF71-AECF-CE65C165CEF0}"/>
              </a:ext>
            </a:extLst>
          </p:cNvPr>
          <p:cNvGrpSpPr/>
          <p:nvPr/>
        </p:nvGrpSpPr>
        <p:grpSpPr>
          <a:xfrm>
            <a:off x="2418759" y="1094775"/>
            <a:ext cx="5333763" cy="3864851"/>
            <a:chOff x="2108200" y="91474"/>
            <a:chExt cx="5600700" cy="404872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16CAE25-80D9-E3A7-AD15-717E0F20DD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08200" y="91474"/>
              <a:ext cx="5600700" cy="4048725"/>
            </a:xfrm>
            <a:prstGeom prst="rect">
              <a:avLst/>
            </a:prstGeom>
          </p:spPr>
        </p:pic>
        <p:pic>
          <p:nvPicPr>
            <p:cNvPr id="11266" name="Picture 2">
              <a:extLst>
                <a:ext uri="{FF2B5EF4-FFF2-40B4-BE49-F238E27FC236}">
                  <a16:creationId xmlns:a16="http://schemas.microsoft.com/office/drawing/2014/main" id="{964B834E-A453-27FF-166A-BF3A8BC0AE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10669" y="594528"/>
              <a:ext cx="5376862" cy="34205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16535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21C5202-7C24-FDFE-D57B-DB7E2BC17950}"/>
              </a:ext>
            </a:extLst>
          </p:cNvPr>
          <p:cNvSpPr txBox="1"/>
          <p:nvPr/>
        </p:nvSpPr>
        <p:spPr>
          <a:xfrm>
            <a:off x="1402422" y="2017752"/>
            <a:ext cx="633915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6600" b="0" i="0" u="none" strike="noStrike" dirty="0">
                <a:solidFill>
                  <a:schemeClr val="accent2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 Thank you</a:t>
            </a:r>
            <a:endParaRPr lang="en-US" sz="6600" b="0" dirty="0">
              <a:solidFill>
                <a:schemeClr val="accent2"/>
              </a:solidFill>
              <a:effectLst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93670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49B927-CCDA-A452-80EF-79210F359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6E8DE66-69C7-A895-502A-490855DD6CF1}"/>
              </a:ext>
            </a:extLst>
          </p:cNvPr>
          <p:cNvSpPr txBox="1"/>
          <p:nvPr/>
        </p:nvSpPr>
        <p:spPr>
          <a:xfrm>
            <a:off x="1402423" y="-33887"/>
            <a:ext cx="633915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600" b="0" i="0" u="none" strike="noStrike" kern="0" cap="none" spc="0" normalizeH="0" baseline="0" noProof="0" dirty="0">
                <a:ln>
                  <a:noFill/>
                </a:ln>
                <a:solidFill>
                  <a:srgbClr val="A5CF27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Arial"/>
              </a:rPr>
              <a:t># Team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99D314-080A-ECE7-7867-A6AB21FF76A7}"/>
              </a:ext>
            </a:extLst>
          </p:cNvPr>
          <p:cNvSpPr txBox="1"/>
          <p:nvPr/>
        </p:nvSpPr>
        <p:spPr>
          <a:xfrm>
            <a:off x="1402422" y="1074109"/>
            <a:ext cx="7123097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image1 = cv2.imread(‘Adel Shousha.jpg')</a:t>
            </a:r>
          </a:p>
          <a:p>
            <a:r>
              <a:rPr lang="en-US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image2 = cv2.imread(‘Mahmoud Sadeq.jpg')</a:t>
            </a:r>
          </a:p>
          <a:p>
            <a:r>
              <a:rPr lang="en-US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image3 = cv2.imread(‘Mazen Ayman.jpg')</a:t>
            </a:r>
          </a:p>
          <a:p>
            <a:r>
              <a:rPr lang="en-US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image4 = cv2.imread(‘Mazen Amir.jpg’)</a:t>
            </a:r>
          </a:p>
          <a:p>
            <a:r>
              <a:rPr lang="en-US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image5 = cv2.imread(‘Youssef Elkotby.jpg’)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E7E7E7"/>
              </a:solidFill>
              <a:effectLst/>
              <a:uLnTx/>
              <a:uFillTx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E7E7E7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Arial"/>
              </a:rPr>
              <a:t>image6 = cv2.imread(‘Hassan ElAttar.jpg’)</a:t>
            </a:r>
          </a:p>
          <a:p>
            <a:endParaRPr lang="en-US" sz="1050" dirty="0">
              <a:solidFill>
                <a:schemeClr val="accent3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r>
              <a:rPr lang="en-US" sz="1050" dirty="0" err="1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plt.imshow</a:t>
            </a:r>
            <a:r>
              <a:rPr lang="en-US" sz="105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(image1)  </a:t>
            </a:r>
          </a:p>
          <a:p>
            <a:endParaRPr lang="en-US" sz="1050" dirty="0">
              <a:solidFill>
                <a:schemeClr val="accent3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r>
              <a:rPr lang="en-US" sz="1050" dirty="0" err="1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plt.imshow</a:t>
            </a:r>
            <a:r>
              <a:rPr lang="en-US" sz="105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(image2)</a:t>
            </a:r>
          </a:p>
          <a:p>
            <a:endParaRPr lang="en-US" sz="1050" dirty="0">
              <a:solidFill>
                <a:schemeClr val="accent3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r>
              <a:rPr lang="en-US" sz="1050" dirty="0" err="1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plt.imshow</a:t>
            </a:r>
            <a:r>
              <a:rPr lang="en-US" sz="105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(image3) </a:t>
            </a:r>
          </a:p>
          <a:p>
            <a:endParaRPr lang="en-US" sz="1050" dirty="0">
              <a:solidFill>
                <a:schemeClr val="accent3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r>
              <a:rPr lang="en-US" sz="1050" dirty="0" err="1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plt.imshow</a:t>
            </a:r>
            <a:r>
              <a:rPr lang="en-US" sz="105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(image4)  </a:t>
            </a:r>
          </a:p>
          <a:p>
            <a:endParaRPr lang="en-US" sz="1050" dirty="0">
              <a:solidFill>
                <a:schemeClr val="accent3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r>
              <a:rPr lang="en-US" sz="1050" dirty="0" err="1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plt.imshow</a:t>
            </a:r>
            <a:r>
              <a:rPr lang="en-US" sz="105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(image5)  </a:t>
            </a:r>
          </a:p>
          <a:p>
            <a:endParaRPr lang="en-US" sz="1050" dirty="0">
              <a:solidFill>
                <a:schemeClr val="accent3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r>
              <a:rPr lang="en-US" sz="1050" dirty="0" err="1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plt.imshow</a:t>
            </a:r>
            <a:r>
              <a:rPr lang="en-US" sz="105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(image6)  </a:t>
            </a:r>
          </a:p>
          <a:p>
            <a:endParaRPr lang="en-US" sz="1050" dirty="0">
              <a:solidFill>
                <a:schemeClr val="accent3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r>
              <a:rPr lang="en-US" sz="1050" dirty="0" err="1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plt.show</a:t>
            </a:r>
            <a:r>
              <a:rPr lang="en-US" sz="105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()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E9E15AE-A769-5925-6436-C8C6C77D9CED}"/>
              </a:ext>
            </a:extLst>
          </p:cNvPr>
          <p:cNvGrpSpPr/>
          <p:nvPr/>
        </p:nvGrpSpPr>
        <p:grpSpPr>
          <a:xfrm>
            <a:off x="1087900" y="102138"/>
            <a:ext cx="1931419" cy="2290557"/>
            <a:chOff x="1119559" y="702633"/>
            <a:chExt cx="1309234" cy="1552680"/>
          </a:xfrm>
        </p:grpSpPr>
        <p:pic>
          <p:nvPicPr>
            <p:cNvPr id="16399" name="Picture 15" descr="Windows 9x/NT Blank Window Template">
              <a:extLst>
                <a:ext uri="{FF2B5EF4-FFF2-40B4-BE49-F238E27FC236}">
                  <a16:creationId xmlns:a16="http://schemas.microsoft.com/office/drawing/2014/main" id="{8D43547A-28B3-0A96-2EC4-1AABBDAA0B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9559" y="702633"/>
              <a:ext cx="1309234" cy="1552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91FF2C40-E581-AB46-4646-400B32358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9164"/>
            <a:stretch/>
          </p:blipFill>
          <p:spPr>
            <a:xfrm>
              <a:off x="1257366" y="934096"/>
              <a:ext cx="1033621" cy="1251864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3DD0E82-88A5-84E1-69BE-329308E3C993}"/>
              </a:ext>
            </a:extLst>
          </p:cNvPr>
          <p:cNvGrpSpPr/>
          <p:nvPr/>
        </p:nvGrpSpPr>
        <p:grpSpPr>
          <a:xfrm>
            <a:off x="1039260" y="2626262"/>
            <a:ext cx="2021871" cy="2397828"/>
            <a:chOff x="5915776" y="1843496"/>
            <a:chExt cx="1309234" cy="1552680"/>
          </a:xfrm>
        </p:grpSpPr>
        <p:pic>
          <p:nvPicPr>
            <p:cNvPr id="40" name="Picture 15" descr="Windows 9x/NT Blank Window Template">
              <a:extLst>
                <a:ext uri="{FF2B5EF4-FFF2-40B4-BE49-F238E27FC236}">
                  <a16:creationId xmlns:a16="http://schemas.microsoft.com/office/drawing/2014/main" id="{F667055C-8AF4-636C-1DEC-74672C9E27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15776" y="1843496"/>
              <a:ext cx="1309234" cy="1552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A0316665-8F5D-C756-49C5-07806B6BF0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1127" t="8978" r="28527" b="46597"/>
            <a:stretch/>
          </p:blipFill>
          <p:spPr>
            <a:xfrm>
              <a:off x="6050365" y="2088404"/>
              <a:ext cx="1033621" cy="1216047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9AD16DE-3F9A-51B3-F21A-7753CD2E5519}"/>
              </a:ext>
            </a:extLst>
          </p:cNvPr>
          <p:cNvGrpSpPr/>
          <p:nvPr/>
        </p:nvGrpSpPr>
        <p:grpSpPr>
          <a:xfrm>
            <a:off x="6590231" y="137786"/>
            <a:ext cx="1901360" cy="2254909"/>
            <a:chOff x="4413362" y="304722"/>
            <a:chExt cx="1309234" cy="1552680"/>
          </a:xfrm>
        </p:grpSpPr>
        <p:pic>
          <p:nvPicPr>
            <p:cNvPr id="39" name="Picture 15" descr="Windows 9x/NT Blank Window Template">
              <a:extLst>
                <a:ext uri="{FF2B5EF4-FFF2-40B4-BE49-F238E27FC236}">
                  <a16:creationId xmlns:a16="http://schemas.microsoft.com/office/drawing/2014/main" id="{05ADF6C9-6286-054A-339C-83DEFFC83E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3362" y="304722"/>
              <a:ext cx="1309234" cy="1552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A45E4154-8301-5BF8-A65A-71814551A7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4920" r="14920" b="18402"/>
            <a:stretch/>
          </p:blipFill>
          <p:spPr>
            <a:xfrm>
              <a:off x="4551168" y="550704"/>
              <a:ext cx="1033622" cy="1202135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47511E5-29DA-C504-C286-1EE04CF1B63E}"/>
              </a:ext>
            </a:extLst>
          </p:cNvPr>
          <p:cNvGrpSpPr/>
          <p:nvPr/>
        </p:nvGrpSpPr>
        <p:grpSpPr>
          <a:xfrm>
            <a:off x="3852176" y="117766"/>
            <a:ext cx="1931419" cy="2254909"/>
            <a:chOff x="-706486" y="1198966"/>
            <a:chExt cx="1309234" cy="1552680"/>
          </a:xfrm>
        </p:grpSpPr>
        <p:pic>
          <p:nvPicPr>
            <p:cNvPr id="36" name="Picture 15" descr="Windows 9x/NT Blank Window Template">
              <a:extLst>
                <a:ext uri="{FF2B5EF4-FFF2-40B4-BE49-F238E27FC236}">
                  <a16:creationId xmlns:a16="http://schemas.microsoft.com/office/drawing/2014/main" id="{0E572130-6253-CA0C-F80D-1BC3BE6353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706486" y="1198966"/>
              <a:ext cx="1309234" cy="1552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2A192C52-D1E1-8569-A4B7-9AAB7B3E851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7514" r="8862"/>
            <a:stretch/>
          </p:blipFill>
          <p:spPr>
            <a:xfrm>
              <a:off x="-559862" y="1445519"/>
              <a:ext cx="1033622" cy="1237959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DE349DB-9579-5A52-A5AF-CE0468DE5E6A}"/>
              </a:ext>
            </a:extLst>
          </p:cNvPr>
          <p:cNvGrpSpPr/>
          <p:nvPr/>
        </p:nvGrpSpPr>
        <p:grpSpPr>
          <a:xfrm>
            <a:off x="3865184" y="2629514"/>
            <a:ext cx="1931419" cy="2364304"/>
            <a:chOff x="1517723" y="3177100"/>
            <a:chExt cx="1309234" cy="1552680"/>
          </a:xfrm>
        </p:grpSpPr>
        <p:pic>
          <p:nvPicPr>
            <p:cNvPr id="38" name="Picture 15" descr="Windows 9x/NT Blank Window Template">
              <a:extLst>
                <a:ext uri="{FF2B5EF4-FFF2-40B4-BE49-F238E27FC236}">
                  <a16:creationId xmlns:a16="http://schemas.microsoft.com/office/drawing/2014/main" id="{9F3E2BA0-44D9-E2A3-2F53-B652111FA2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7723" y="3177100"/>
              <a:ext cx="1309234" cy="1552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DAFFAA60-0CE9-A549-5A72-AEF5CC675B5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6721"/>
            <a:stretch/>
          </p:blipFill>
          <p:spPr>
            <a:xfrm>
              <a:off x="1655529" y="3394847"/>
              <a:ext cx="1033622" cy="1285537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312D0E5-B9D3-FA06-F1C4-BC2B350A77D6}"/>
              </a:ext>
            </a:extLst>
          </p:cNvPr>
          <p:cNvGrpSpPr/>
          <p:nvPr/>
        </p:nvGrpSpPr>
        <p:grpSpPr>
          <a:xfrm>
            <a:off x="6587648" y="2518544"/>
            <a:ext cx="2020930" cy="2505546"/>
            <a:chOff x="295599" y="2738816"/>
            <a:chExt cx="2043564" cy="2423555"/>
          </a:xfrm>
        </p:grpSpPr>
        <p:pic>
          <p:nvPicPr>
            <p:cNvPr id="37" name="Picture 15" descr="Windows 9x/NT Blank Window Template">
              <a:extLst>
                <a:ext uri="{FF2B5EF4-FFF2-40B4-BE49-F238E27FC236}">
                  <a16:creationId xmlns:a16="http://schemas.microsoft.com/office/drawing/2014/main" id="{C91D229C-F0AC-A1BE-59DA-215E92248A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5599" y="2738816"/>
              <a:ext cx="2043564" cy="24235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9C387FAE-6C84-A769-E2C0-74C29ED0424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28327" y="3146854"/>
              <a:ext cx="1826847" cy="18268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6966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1785</Words>
  <Application>Microsoft Macintosh PowerPoint</Application>
  <PresentationFormat>On-screen Show (16:9)</PresentationFormat>
  <Paragraphs>258</Paragraphs>
  <Slides>22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Amatic SC</vt:lpstr>
      <vt:lpstr>Courier New</vt:lpstr>
      <vt:lpstr>Arial</vt:lpstr>
      <vt:lpstr>Fira Code</vt:lpstr>
      <vt:lpstr>Programming Language Workshop for Beginners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Tabulated Data:  Any Clear Trends? </vt:lpstr>
      <vt:lpstr>PowerPoint Presentation</vt:lpstr>
      <vt:lpstr>PowerPoint Presentation</vt:lpstr>
      <vt:lpstr>PowerPoint Presentation</vt:lpstr>
      <vt:lpstr>Types of Plots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YNWA</dc:creator>
  <cp:lastModifiedBy>Adel Mahmoud Shousha</cp:lastModifiedBy>
  <cp:revision>12</cp:revision>
  <dcterms:modified xsi:type="dcterms:W3CDTF">2025-02-18T20:08:47Z</dcterms:modified>
</cp:coreProperties>
</file>